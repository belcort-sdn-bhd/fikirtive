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nnin-Desktop-FIKIRTIVE--claude-worktrees-orchestration-dashboard-design-e914f4/43c820ca-6072-40d4-9469-97e85bbeded7/scratchpad/boards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FIKIRTIVE · BRAND GUIDELINES V4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at a glance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94960" y="21031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三句话记住整个系统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241280" y="2103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5328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25328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字标 · wordmark · Otto 云朵 · 留白与误用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241280" y="25328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04–09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9626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29626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 + JetBrains Mono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0" y="29626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3924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3924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33924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柔光棱镜 · 90/8/2 · 允许与禁止的搭配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241280" y="33924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11–12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3822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38221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摄影 · 插画 · 图标 · AI 生成物的呈现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241280" y="38221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251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4251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4251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在对谁说话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241280" y="4251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6817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46817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tone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94960" y="46817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声音恒定,语气随场合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241280" y="46817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1114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63040" y="51114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and style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51114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拼写 · 标点 · 数字与日期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0" y="51114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55412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63040" y="55412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and boilerplate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94960" y="55412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marketing OS. · 官方一段话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241280" y="55412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→ Nicks Gan · nicksgan@belcort.com</a:t>
            </a:r>
            <a:endParaRPr lang="en-US" sz="1100" dirty="0"/>
          </a:p>
        </p:txBody>
      </p:sp>
      <p:pic>
        <p:nvPicPr>
          <p:cNvPr id="41" name="Image 0" descr="/private/tmp/claude-501/-Users-winnin-Desktop-FIKIRTIVE--claude-worktrees-orchestration-dashboard-design-e914f4/43c820ca-6072-40d4-9469-97e85bbeded7/scratchpad/found-brand/png/fav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94360"/>
            <a:ext cx="1371600" cy="13716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骨架冷静 · 彩色是糖 · 珊瑚是品牌与 Otto</a:t>
            </a:r>
            <a:endParaRPr lang="en-US" sz="2800" dirty="0"/>
          </a:p>
        </p:txBody>
      </p:sp>
      <p:pic>
        <p:nvPicPr>
          <p:cNvPr id="4" name="Image 0" descr="/private/tmp/claude-501/-Users-winnin-Desktop-FIKIRTIVE--claude-worktrees-orchestration-dashboard-design-e914f4/43c820ca-6072-40d4-9469-97e85bbeded7/scratchpad/boards/g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72247"/>
            <a:ext cx="11183112" cy="41936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LOGOS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两件标识,各司其职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字标 = 公司的标。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有机手绘体,圆头笔画、三颗圆点收尾。原稿由 Founder 亲供(2026-07-16),矢量官方包在 docs/brand/logo/。
</a:t>
            </a:r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Otto 云朵 = 操盘手的标。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两者是一个形状语言的一家人,但不许互换角色:F 是招牌,云朵是店伙计的脸。
</a:t>
            </a:r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9C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旧的机器人脸一族已全部退役(Founder 裁决 2026-08-20)。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B5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变体:墨 / 纸 / 白 / 珊瑚四色 mark · 黑砖(正式) · 珊瑚圆角砖(默认身份,favicon 即它)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94960" y="1234440"/>
            <a:ext cx="5943600" cy="3063240"/>
          </a:xfrm>
          <a:prstGeom prst="roundRect">
            <a:avLst>
              <a:gd name="adj" fmla="val 3582"/>
            </a:avLst>
          </a:prstGeom>
          <a:solidFill>
            <a:srgbClr val="F5F1E8"/>
          </a:solidFill>
          <a:ln w="12700">
            <a:solidFill>
              <a:srgbClr val="E8E9EF"/>
            </a:solidFill>
            <a:prstDash val="solid"/>
          </a:ln>
        </p:spPr>
      </p:sp>
      <p:pic>
        <p:nvPicPr>
          <p:cNvPr id="7" name="Image 0" descr="/private/tmp/claude-501/-Users-winnin-Desktop-FIKIRTIVE--claude-worktrees-orchestration-dashboard-design-e914f4/43c820ca-6072-40d4-9469-97e85bbeded7/scratchpad/found-brand/png/f-mark-ink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020" y="1417320"/>
            <a:ext cx="2697480" cy="2697480"/>
          </a:xfrm>
          <a:prstGeom prst="rect">
            <a:avLst/>
          </a:prstGeom>
        </p:spPr>
      </p:pic>
      <p:pic>
        <p:nvPicPr>
          <p:cNvPr id="8" name="Image 1" descr="/private/tmp/claude-501/-Users-winnin-Desktop-FIKIRTIVE--claude-worktrees-orchestration-dashboard-design-e914f4/43c820ca-6072-40d4-9469-97e85bbeded7/scratchpad/found-brand/png/f-tile-black-10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572000"/>
            <a:ext cx="1737360" cy="17373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6171C">
                <a:alpha val="18000"/>
              </a:srgbClr>
            </a:outerShdw>
          </a:effectLst>
        </p:spPr>
      </p:pic>
      <p:pic>
        <p:nvPicPr>
          <p:cNvPr id="9" name="Image 2" descr="/private/tmp/claude-501/-Users-winnin-Desktop-FIKIRTIVE--claude-worktrees-orchestration-dashboard-design-e914f4/43c820ca-6072-40d4-9469-97e85bbeded7/scratchpad/found-brand/png/f-tile-coral-102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572000"/>
            <a:ext cx="1737360" cy="17373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6171C">
                <a:alpha val="18000"/>
              </a:srgbClr>
            </a:outerShdw>
          </a:effectLst>
        </p:spPr>
      </p:pic>
      <p:pic>
        <p:nvPicPr>
          <p:cNvPr id="10" name="Image 3" descr="/private/tmp/claude-501/-Users-winnin-Desktop-FIKIRTIVE--claude-worktrees-orchestration-dashboard-design-e914f4/43c820ca-6072-40d4-9469-97e85bbeded7/scratchpad/found-brand/png/favicon-5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4572000"/>
            <a:ext cx="1737360" cy="17373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6171C">
                <a:alpha val="18000"/>
              </a:srgbClr>
            </a:outerShdw>
          </a:effectLst>
        </p:spPr>
      </p:pic>
      <p:sp>
        <p:nvSpPr>
          <p:cNvPr id="11" name="Text 5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LOGOS · CLEARSPACE AND SIZING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留白、缩放与出现的场合</a:t>
            </a:r>
            <a:endParaRPr lang="en-US" sz="3200" dirty="0"/>
          </a:p>
        </p:txBody>
      </p:sp>
      <p:pic>
        <p:nvPicPr>
          <p:cNvPr id="4" name="Image 0" descr="/private/tmp/claude-501/-Users-winnin-Desktop-FIKIRTIVE--claude-worktrees-orchestration-dashboard-design-e914f4/43c820ca-6072-40d4-9469-97e85bbeded7/scratchpad/boards/cl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16723"/>
            <a:ext cx="5120640" cy="39389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828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留白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55280" y="1828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四面 ≥ 标高的 ¼,任何元素不得进入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0" y="290779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最小尺寸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0" y="290779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砖 16px(favicon 即它)· 裸标高 ≥ 24px · lockup 高 ≥ 20px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0" y="3986784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缩放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5280" y="398678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只等比缩放;PNG 从官方导出取,不自行重绘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5065776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0" y="506577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浏览器标签/应用图标 = 珊瑚圆角砖;正式文书 = 黑砖;彩底/摄影上 = 纸或墨 F,且必须装在砖里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LOGOS · MISUSE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不许这样用</a:t>
            </a:r>
            <a:endParaRPr lang="en-US" sz="3200" dirty="0"/>
          </a:p>
        </p:txBody>
      </p:sp>
      <p:pic>
        <p:nvPicPr>
          <p:cNvPr id="4" name="Image 0" descr="/private/tmp/claude-501/-Users-winnin-Desktop-FIKIRTIVE--claude-worktrees-orchestration-dashboard-design-e914f4/43c820ca-6072-40d4-9469-97e85bbeded7/scratchpad/boards/mis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43017"/>
            <a:ext cx="11183112" cy="39606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LOGOS · WORDMARK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一个名字,一种写法</a:t>
            </a:r>
            <a:endParaRPr lang="en-US" sz="3200" dirty="0"/>
          </a:p>
        </p:txBody>
      </p:sp>
      <p:pic>
        <p:nvPicPr>
          <p:cNvPr id="4" name="Image 0" descr="/private/tmp/claude-501/-Users-winnin-Desktop-FIKIRTIVE--claude-worktrees-orchestration-dashboard-design-e914f4/43c820ca-6072-40d4-9469-97e85bbeded7/scratchpad/boards/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75" y="1737360"/>
            <a:ext cx="10413402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今天产品里同时存在 FIKIRTIVE / Fikirtive / fikirtive 三种写法——到此为止。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LOGOS · OTTO, THE OPERATOR'S 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一朵会看你的云</a:t>
            </a:r>
            <a:endParaRPr lang="en-US" sz="3200" dirty="0"/>
          </a:p>
        </p:txBody>
      </p:sp>
      <p:pic>
        <p:nvPicPr>
          <p:cNvPr id="4" name="Image 0" descr="/private/tmp/claude-501/-Users-winnin-Desktop-FIKIRTIVE--claude-worktrees-orchestration-dashboard-design-e914f4/43c820ca-6072-40d4-9469-97e85bbeded7/scratchpad/boards/otto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09572"/>
            <a:ext cx="5394960" cy="4136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1691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89520" y="1691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Otto 是珊瑚色的云,没有嘴——用眼神说话,话写在聊天里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360" y="26243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颜色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0" y="26243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云永远珊瑚 #EC5828,眼睛永远深褐 #2B1308;任何底色不改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9360" y="355701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出场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0" y="355701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只出现在 Otto 真的在看、在做、在等的地方;不做装饰花纹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448970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尺寸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89520" y="448970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 20px;再小退成珊瑚圆点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542239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89520" y="54223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换色 / 加嘴 / 放在人类操作的按钮上 / 机器人脸回魂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LOGOS · OTTO MOODS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八种心情,一朵云</a:t>
            </a:r>
            <a:endParaRPr lang="en-US" sz="3200" dirty="0"/>
          </a:p>
        </p:txBody>
      </p:sp>
      <p:pic>
        <p:nvPicPr>
          <p:cNvPr id="4" name="Image 0" descr="/private/tmp/claude-501/-Users-winnin-Desktop-FIKIRTIVE--claude-worktrees-orchestration-dashboard-design-e914f4/43c820ca-6072-40d4-9469-97e85bbeded7/scratchpad/boards/mo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1691640"/>
            <a:ext cx="932688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TYPOGRAPHY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 说话,JetBrains Mono 报数</a:t>
            </a:r>
            <a:endParaRPr lang="en-US" sz="3200" dirty="0"/>
          </a:p>
        </p:txBody>
      </p:sp>
      <p:pic>
        <p:nvPicPr>
          <p:cNvPr id="4" name="Image 0" descr="/private/tmp/claude-501/-Users-winnin-Desktop-FIKIRTIVE--claude-worktrees-orchestration-dashboard-design-e914f4/43c820ca-6072-40d4-9469-97e85bbeded7/scratchpad/boards/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9953"/>
            <a:ext cx="7863840" cy="4646815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6171C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686800" y="19202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875520" y="19202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一副面孔管全部人话,一副等宽管全部数据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0" y="299923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875520" y="299923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用字重与字号做,不换字体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0" y="407822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875520" y="4078224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成列必开 tabular figures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5157216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875520" y="515721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系统回退 PingFang SC / Noto Sans SC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COLOR PALETTE · SOFT PRISM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冷静 · 8% 糖 · 2% 珊瑚</a:t>
            </a:r>
            <a:endParaRPr lang="en-US" sz="3200" dirty="0"/>
          </a:p>
        </p:txBody>
      </p:sp>
      <p:pic>
        <p:nvPicPr>
          <p:cNvPr id="4" name="Image 0" descr="/private/tmp/claude-501/-Users-winnin-Desktop-FIKIRTIVE--claude-worktrees-orchestration-dashboard-design-e914f4/43c820ca-6072-40d4-9469-97e85bbeded7/scratchpad/boards/pal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866" y="1645920"/>
            <a:ext cx="9271221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COLOR PALETTE · COMBINATIONS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允许的搭配,禁止的搭配</a:t>
            </a:r>
            <a:endParaRPr lang="en-US" sz="3200" dirty="0"/>
          </a:p>
        </p:txBody>
      </p:sp>
      <p:pic>
        <p:nvPicPr>
          <p:cNvPr id="4" name="Image 0" descr="/private/tmp/claude-501/-Users-winnin-Desktop-FIKIRTIVE--claude-worktrees-orchestration-dashboard-design-e914f4/43c820ca-6072-40d4-9469-97e85bbeded7/scratchpad/boards/gr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144" y="1554480"/>
            <a:ext cx="9396663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029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允许:糖上文字用对应深调(紫底 #3B3663 / 桃底 #7C3D2A / 天底 #2E4A66),对比 ≥ 4.5:1;珊瑚只配白字。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禁止:珊瑚 F 上珊瑚底 · 渐变做按钮或大段文字底 · 渐变做图表数据色 · 相邻两块糖同色 · 一屏超过两块糖。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语义色(绿/黄/红/蓝)只说状态,永不做装饰;人类操作按钮只有墨黑一种颜色。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IMAGERY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商家的作品是主角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摄影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17373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 stock 照片——牌子不借别人的脸。示意一律用产品真截图、渐变底或云朵。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17373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商家生成的图/视频装在白卡 + 细边 + 浅影里,画廊式装裱;永不加滤镜、不叠品牌色、不打水印。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0" y="32461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唯一插画角色是 Otto 云朵(八表情);不引入第二套插画风格。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0" y="32461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细线几何风(线宽统一),跟随文字色;图标不用珊瑚——珊瑚是 Otto 的。具体图标库 components 场定稿。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纹理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68880" y="47548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16-18px 细点阵只出现在 canvas 工作区,是「这里可以创作」的信号;营销面不用。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4754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渐变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0" y="47548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只做内容的糖(见 03 章),不做摄影滤镜、不做页面大底。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AUDIENCE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在对谁说话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小生意的老板本人。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开店的人自己就是老板 + 营销部:不懂营销、没有营销团队,也不该为了用 AI 先学 prompt。他们要的是看得懂的方案、花得明白的钱、和一个不会骗他们的系统。
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地理上从马来西亚与东南亚起步,但品牌按全球说话——本地体验是优势,不是边界。写文案时:全球通行的英文,不堆本地梗;涉及钱一律具体(金额、条数、日期),不打鸡血、不画饼。
</a:t>
            </a:r>
            <a:pPr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给写手/设计/agent 的一条自检:这句话对一个忙着看店、每天只有十分钟处理营销的人,读一遍能不能懂?不能,就重写。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VOICE AND 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声音恒定,语气随场合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两个嗓音:产品(中性、清楚,像可靠的收银台)· Otto(第一人称、温和,像靠谱的店伙计)。声音永远诚实、具体、不装;语气随场合调:顺利时轻快,花钱时郑重,出错时冷静。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2F3F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328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场合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25328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这样说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0" y="25328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不这样说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3108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here yet — start your first canvas.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3108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strike="sngStrike" dirty="0">
                <a:solidFill>
                  <a:srgbClr val="9C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creative journey awaits! 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38039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花钱前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80390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images · 12 credits. Generate?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06640" y="38039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strike="sngStrike" dirty="0">
                <a:solidFill>
                  <a:srgbClr val="9C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先扣了再说 / 价钱藏进 tooltip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4498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44988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didn't go through. Your credits are untouched — try again.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06640" y="44988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strike="sngStrike" dirty="0">
                <a:solidFill>
                  <a:srgbClr val="9C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 Something went wrong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51937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没通电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51937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isn't switched on yet, so this stays a draft.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06640" y="51937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strike="sngStrike" dirty="0">
                <a:solidFill>
                  <a:srgbClr val="9C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soon!(禁句)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588873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Otto 干活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588873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4 images for “Raya promo” — two are done.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06640" y="58887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strike="sngStrike" dirty="0">
                <a:solidFill>
                  <a:srgbClr val="9C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Processing… / 转圈不说话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GRAMMAR AND STYLE CONVENTIONS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拼写、标点、数字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拼写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2926080" y="17373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美式英语(color, favorite, organize);现存英式残留按票清理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大小写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926080" y="2395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全线 sentence case(标题、按钮、导航);全大写只给 mono 小标签,配 +10% 字距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0540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序列逗号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926080" y="305409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Oxford comma:posts, images, and videos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71246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26080" y="371246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2,350.00 —— 币种前缀 + 千分位 + 两位小数;credits 写 1,240 cr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3708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26080" y="43708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Aug 2026;界面短语境可用 Fri, 12 Aug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产品词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26080" y="5029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Fikirtive(行文)· fikirtive(字标)· Otto(永远大写 O)· credits(小写)· canvas(小写)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687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禁句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926080" y="56875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 · 任何供应商/模型名 · 任何没有真实来源的数字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TAGLINE AND BOILERPLATE</a:t>
            </a:r>
            <a:endParaRPr lang="en-US" sz="1100" dirty="0"/>
          </a:p>
        </p:txBody>
      </p:sp>
      <p:pic>
        <p:nvPicPr>
          <p:cNvPr id="3" name="Image 0" descr="/private/tmp/claude-501/-Users-winnin-Desktop-FIKIRTIVE--claude-worktrees-orchestration-dashboard-design-e914f4/43c820ca-6072-40d4-9469-97e85bbeded7/scratchpad/boards/tag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396" y="1097280"/>
            <a:ext cx="737616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Boilerplate(press / 合作方 / 应用商店 / 社媒 bio 通用,一字不改地复制):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22960" y="4800600"/>
            <a:ext cx="10515600" cy="1508760"/>
          </a:xfrm>
          <a:prstGeom prst="roundRect">
            <a:avLst>
              <a:gd name="adj" fmla="val 6061"/>
            </a:avLst>
          </a:prstGeom>
          <a:solidFill>
            <a:srgbClr val="FAFAFC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49377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B5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Fikirtive is the all-in-one marketing OS for small businesses. It gives merchants complete, hands-on marketing tools — creation, campaigns, scheduling, and publishing — plus Otto, an AI marketing operator that researches, plans, and executes with the merchant's approval. Every action is transparent: merchants see what things cost before they run, and everything leaves a trail they can read. Fikirtive is operated by BELCORT SDN BHD.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6873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nnin-Desktop-FIKIRTIVE--claude-worktrees-orchestration-dashboard-design-e914f4/43c820ca-6072-40d4-9469-97e85bbeded7/scratchpad/boards/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Fikirtive brand guidelines v4</dc:title>
  <dc:subject>PptxGenJS Presentation</dc:subject>
  <dc:creator>Fikirtive</dc:creator>
  <cp:lastModifiedBy>Fikirtive</cp:lastModifiedBy>
  <cp:revision>1</cp:revision>
  <dcterms:created xsi:type="dcterms:W3CDTF">2026-08-20T05:47:07Z</dcterms:created>
  <dcterms:modified xsi:type="dcterms:W3CDTF">2026-08-20T05:47:07Z</dcterms:modified>
</cp:coreProperties>
</file>