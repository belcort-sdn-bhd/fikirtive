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74980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7498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22960" y="3520440"/>
            <a:ext cx="9144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62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</a:t>
            </a:r>
            <a:endParaRPr lang="en-US" sz="6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62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guidelines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822960" y="6108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Version 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625535" y="6108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BRAND GUIDELINES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716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Logos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88575" y="19659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03–08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235000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957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88575" y="23957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09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77977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25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088575" y="28254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10–11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" y="320954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55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716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Imagery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088575" y="32552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3639312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6850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368503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Audience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88575" y="368503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2960" y="4069080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114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71600" y="41148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Voice and tone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88575" y="4114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" y="449884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5445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454456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Grammar and style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88575" y="45445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" y="492861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9743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371600" y="497433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Tagline and boilerplate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0088575" y="49743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35838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questions: Nicks Gan · nicksgan@belcort.com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 mark represents the company: hand-drawn strokes with rounded terminals, ending in three dots. The Otto cloud represents Otto, Fikirtive’s AI marketing operator.
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 interchange the two marks.</a:t>
            </a:r>
            <a:endParaRPr lang="en-US" sz="115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5029200"/>
            <a:ext cx="603504" cy="749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887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company</a:t>
            </a:r>
            <a:endParaRPr lang="en-US" sz="850" dirty="0"/>
          </a:p>
        </p:txBody>
      </p:sp>
      <p:pic>
        <p:nvPicPr>
          <p:cNvPr id="7" name="Image 1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23160" y="5230368"/>
            <a:ext cx="804672" cy="7406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94560" y="58887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5394960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F5F1E8"/>
          </a:solidFill>
          <a:ln/>
        </p:spPr>
      </p:sp>
      <p:pic>
        <p:nvPicPr>
          <p:cNvPr id="10" name="Image 2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45620" y="2135124"/>
            <a:ext cx="868680" cy="10789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321808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— on light grounds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6929552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141414"/>
          </a:solidFill>
          <a:ln/>
        </p:spPr>
      </p:sp>
      <p:pic>
        <p:nvPicPr>
          <p:cNvPr id="13" name="Image 3" descr="/private/tmp/claude-501/-Users-winnin-Desktop-FIKIRTIVE--claude-worktrees-orchestration-dashboard-design-e914f4/43c820ca-6072-40d4-9469-97e85bbeded7/scratchpad/deck-assets/f-paper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0212" y="2135124"/>
            <a:ext cx="868680" cy="10789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856400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 — on ink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8464144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EC5828"/>
          </a:solidFill>
          <a:ln/>
        </p:spPr>
      </p:sp>
      <p:pic>
        <p:nvPicPr>
          <p:cNvPr id="16" name="Image 4" descr="/private/tmp/claude-501/-Users-winnin-Desktop-FIKIRTIVE--claude-worktrees-orchestration-dashboard-design-e914f4/43c820ca-6072-40d4-9469-97e85bbeded7/scratchpad/deck-assets/f-whit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14803" y="2135124"/>
            <a:ext cx="868680" cy="107899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390992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White — on coral or photography</a:t>
            </a:r>
            <a:endParaRPr lang="en-US" sz="850" dirty="0"/>
          </a:p>
        </p:txBody>
      </p:sp>
      <p:sp>
        <p:nvSpPr>
          <p:cNvPr id="18" name="Shape 11"/>
          <p:cNvSpPr/>
          <p:nvPr/>
        </p:nvSpPr>
        <p:spPr>
          <a:xfrm>
            <a:off x="9998735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F5F1E8"/>
          </a:solidFill>
          <a:ln/>
        </p:spPr>
      </p:sp>
      <p:pic>
        <p:nvPicPr>
          <p:cNvPr id="19" name="Image 5" descr="/private/tmp/claude-501/-Users-winnin-Desktop-FIKIRTIVE--claude-worktrees-orchestration-dashboard-design-e914f4/43c820ca-6072-40d4-9469-97e85bbeded7/scratchpad/deck-assets/f-coral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49395" y="2135124"/>
            <a:ext cx="868680" cy="107899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925583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— on paper or white only</a:t>
            </a:r>
            <a:endParaRPr lang="en-US" sz="850" dirty="0"/>
          </a:p>
        </p:txBody>
      </p:sp>
      <p:pic>
        <p:nvPicPr>
          <p:cNvPr id="21" name="Image 6" descr="/private/tmp/claude-501/-Users-winnin-Desktop-FIKIRTIVE--claude-worktrees-orchestration-dashboard-design-e914f4/43c820ca-6072-40d4-9469-97e85bbeded7/scratchpad/deck-assets/tile-black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09945" y="4526280"/>
            <a:ext cx="1051560" cy="105156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321808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Black tile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Formal contexts</a:t>
            </a:r>
            <a:endParaRPr lang="en-US" sz="850" dirty="0"/>
          </a:p>
        </p:txBody>
      </p:sp>
      <p:pic>
        <p:nvPicPr>
          <p:cNvPr id="23" name="Image 7" descr="/private/tmp/claude-501/-Users-winnin-Desktop-FIKIRTIVE--claude-worktrees-orchestration-dashboard-design-e914f4/43c820ca-6072-40d4-9469-97e85bbeded7/scratchpad/deck-assets/tile-coral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56068" y="4526280"/>
            <a:ext cx="1051560" cy="105156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7367930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tile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Default identity</a:t>
            </a:r>
            <a:endParaRPr lang="en-US" sz="850" dirty="0"/>
          </a:p>
        </p:txBody>
      </p:sp>
      <p:pic>
        <p:nvPicPr>
          <p:cNvPr id="25" name="Image 8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902190" y="4526280"/>
            <a:ext cx="1051560" cy="1051560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9414053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 icon · favicon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OS icon grids</a:t>
            </a:r>
            <a:endParaRPr lang="en-US" sz="850" dirty="0"/>
          </a:p>
        </p:txBody>
      </p:sp>
      <p:sp>
        <p:nvSpPr>
          <p:cNvPr id="27" name="Text 16"/>
          <p:cNvSpPr/>
          <p:nvPr/>
        </p:nvSpPr>
        <p:spPr>
          <a:xfrm>
            <a:off x="5394960" y="635508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Tile corner radius: 22.5% of the side. All tiles carry the paper mark.</a:t>
            </a:r>
            <a:endParaRPr lang="en-US" sz="850" dirty="0"/>
          </a:p>
        </p:txBody>
      </p:sp>
      <p:sp>
        <p:nvSpPr>
          <p:cNvPr id="28" name="Text 1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 and minimum size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029200" cy="4297680"/>
          </a:xfrm>
          <a:prstGeom prst="roundRect">
            <a:avLst>
              <a:gd name="adj" fmla="val 2979"/>
            </a:avLst>
          </a:prstGeom>
          <a:solidFill>
            <a:srgbClr val="FAFAFC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2240280"/>
            <a:ext cx="3017520" cy="3383280"/>
          </a:xfrm>
          <a:prstGeom prst="rect">
            <a:avLst/>
          </a:prstGeom>
          <a:ln w="15240">
            <a:solidFill>
              <a:srgbClr val="C9CBD6"/>
            </a:solidFill>
            <a:prstDash val="dash"/>
          </a:ln>
        </p:spPr>
      </p:sp>
      <p:pic>
        <p:nvPicPr>
          <p:cNvPr id="6" name="Image 0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83180" y="2994660"/>
            <a:ext cx="1508760" cy="1874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71800" y="23500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920240" y="38221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206240" y="38221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71800" y="52852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" y="6263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 = the mark’s height. Nothing enters the clear zone — type, marks, or the page edge.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00800" y="19202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19288" y="19202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quarter of the mark height (x/4), on all four sides.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00800" y="242316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9288" y="24231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Tile 16 px / 4 mm. Bare F mark 24 px / 6 mm. Lockup 24 px / 6 mm tile height.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0" y="313639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19288" y="313639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proportionally. Use the official exports; do not redraw.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400800" y="3849624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Placement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19288" y="3849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Browser tabs and app icons: coral tile. Formal documents: black tile. On color or photography: paper or ink mark, inside a tile.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Misuse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17594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6" name="Shape 4"/>
          <p:cNvSpPr/>
          <p:nvPr/>
        </p:nvSpPr>
        <p:spPr>
          <a:xfrm>
            <a:off x="3967886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967886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8" name="Image 0" descr="/private/tmp/claude-501/-Users-winnin-Desktop-FIKIRTIVE--claude-worktrees-orchestration-dashboard-design-e914f4/43c820ca-6072-40d4-9469-97e85bbeded7/scratchpad/deck-assets/mis-gree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50821" y="2135124"/>
            <a:ext cx="749808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recolor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93082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87717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12" name="Shape 9"/>
          <p:cNvSpPr/>
          <p:nvPr/>
        </p:nvSpPr>
        <p:spPr>
          <a:xfrm>
            <a:off x="7538009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7538009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14" name="Image 1" descr="/private/tmp/claude-501/-Users-winnin-Desktop-FIKIRTIVE--claude-worktrees-orchestration-dashboard-design-e914f4/43c820ca-6072-40d4-9469-97e85bbeded7/scratchpad/deck-assets/mis-rotat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5224" y="2080260"/>
            <a:ext cx="841248" cy="104241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5962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rotate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63205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057839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18" name="Shape 14"/>
          <p:cNvSpPr/>
          <p:nvPr/>
        </p:nvSpPr>
        <p:spPr>
          <a:xfrm>
            <a:off x="11108131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1108131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20" name="Image 2" descr="/private/tmp/claude-501/-Users-winnin-Desktop-FIKIRTIVE--claude-worktrees-orchestration-dashboard-design-e914f4/43c820ca-6072-40d4-9469-97e85bbeded7/scratchpad/deck-assets/mis-stretch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80170" y="2208276"/>
            <a:ext cx="1371600" cy="7863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146085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stretch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22960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917594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24" name="Shape 19"/>
          <p:cNvSpPr/>
          <p:nvPr/>
        </p:nvSpPr>
        <p:spPr>
          <a:xfrm>
            <a:off x="3967886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flipH="1">
            <a:off x="3967886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26" name="Image 3" descr="/private/tmp/claude-501/-Users-winnin-Desktop-FIKIRTIVE--claude-worktrees-orchestration-dashboard-design-e914f4/43c820ca-6072-40d4-9469-97e85bbeded7/scratchpad/deck-assets/grad-peach-sq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8485" y="4366260"/>
            <a:ext cx="1554480" cy="1033272"/>
          </a:xfrm>
          <a:prstGeom prst="rect">
            <a:avLst/>
          </a:prstGeom>
        </p:spPr>
      </p:pic>
      <p:pic>
        <p:nvPicPr>
          <p:cNvPr id="27" name="Image 4" descr="/private/tmp/claude-501/-Users-winnin-Desktop-FIKIRTIVE--claude-worktrees-orchestration-dashboard-design-e914f4/43c820ca-6072-40d4-9469-97e85bbeded7/scratchpad/deck-assets/f-coral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78253" y="4448556"/>
            <a:ext cx="694944" cy="85953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05840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put the coral mark on color — use paper or ink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393082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87717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31" name="Shape 24"/>
          <p:cNvSpPr/>
          <p:nvPr/>
        </p:nvSpPr>
        <p:spPr>
          <a:xfrm>
            <a:off x="7538009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 flipH="1">
            <a:off x="7538009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33" name="Image 5" descr="/private/tmp/claude-501/-Users-winnin-Desktop-FIKIRTIVE--claude-worktrees-orchestration-dashboard-design-e914f4/43c820ca-6072-40d4-9469-97e85bbeded7/scratchpad/deck-assets/mis-shadow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02656" y="4402836"/>
            <a:ext cx="786384" cy="95097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575962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add shadows, outlines, or glows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7963205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11057839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37" name="Shape 29"/>
          <p:cNvSpPr/>
          <p:nvPr/>
        </p:nvSpPr>
        <p:spPr>
          <a:xfrm>
            <a:off x="11108131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 flipH="1">
            <a:off x="11108131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237525" y="4567428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6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fikirtive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8146085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re-typeset the wordmark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Wordmark and lockup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6459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640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65592" y="1810512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81051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65592" y="243230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Lockup construction: tile height = x · gap = x/3 · wordmark height = x/2, centered on the tile. Reversed lockup uses the paper wordmark on ink.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78608" y="310896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Geist, weight 750, -3% tracking, always lowercase. Never re-typeset from another face — use the master asset.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Reversed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578608" y="3456432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 #F5F1E8 on ink. Used on the back cover of this document.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running text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78608" y="3803904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Retired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415137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strike="sngStrike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in all caps.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Legal entity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78608" y="4498848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BELCORT SDN BHD.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22960" y="5074920"/>
            <a:ext cx="10545775" cy="1188720"/>
          </a:xfrm>
          <a:prstGeom prst="roundRect">
            <a:avLst>
              <a:gd name="adj" fmla="val 9231"/>
            </a:avLst>
          </a:prstGeom>
          <a:solidFill>
            <a:srgbClr val="16171C"/>
          </a:solidFill>
          <a:ln/>
        </p:spPr>
      </p:sp>
      <p:sp>
        <p:nvSpPr>
          <p:cNvPr id="19" name="Text 16"/>
          <p:cNvSpPr/>
          <p:nvPr/>
        </p:nvSpPr>
        <p:spPr>
          <a:xfrm>
            <a:off x="1280160" y="5074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50" kern="0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8625535" y="50749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Reversed — paper on ink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4663440" cy="4114800"/>
          </a:xfrm>
          <a:prstGeom prst="roundRect">
            <a:avLst>
              <a:gd name="adj" fmla="val 3111"/>
            </a:avLst>
          </a:prstGeom>
          <a:solidFill>
            <a:srgbClr val="FAFAFC"/>
          </a:solidFill>
          <a:ln/>
        </p:spPr>
      </p:sp>
      <p:pic>
        <p:nvPicPr>
          <p:cNvPr id="5" name="Image 0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0240" y="2752344"/>
            <a:ext cx="2468880" cy="2267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192024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53528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Cloud #EC5828, eyes #2B1308. Unchanged on every background.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035040" y="248716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53528" y="2487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Marks Otto’s own activity — never decorative.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035040" y="287121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53528" y="287121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quarter of the cloud’s height. Never locked up with the F mark — the two marks never form one unit.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035040" y="35844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53528" y="3584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20 px / 5 mm. Below that, a coral dot.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035040" y="396849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53528" y="39684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Recolor, add a mouth, or place on human-action controls.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Expressions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361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Idle is the default. Every other expression marks a live product state.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6" name="Image 0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6258" y="2258568"/>
            <a:ext cx="960120" cy="8778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Idle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Default state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349598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0" name="Image 1" descr="/private/tmp/claude-501/-Users-winnin-Desktop-FIKIRTIVE--claude-worktrees-orchestration-dashboard-design-e914f4/43c820ca-6072-40d4-9469-97e85bbeded7/scratchpad/deck-assets/otto-thinking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9278" y="2258568"/>
            <a:ext cx="960120" cy="8778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9598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Thinking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358742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Planning, before a proposal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616900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4" name="Image 2" descr="/private/tmp/claude-501/-Users-winnin-Desktop-FIKIRTIVE--claude-worktrees-orchestration-dashboard-design-e914f4/43c820ca-6072-40d4-9469-97e85bbeded7/scratchpad/deck-assets/otto-helpful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52298" y="2258568"/>
            <a:ext cx="960120" cy="8778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6900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Helpful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26044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Greetings and tips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8842019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8" name="Image 3" descr="/private/tmp/claude-501/-Users-winnin-Desktop-FIKIRTIVE--claude-worktrees-orchestration-dashboard-design-e914f4/43c820ca-6072-40d4-9469-97e85bbeded7/scratchpad/deck-assets/otto-success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25317" y="2258568"/>
            <a:ext cx="960120" cy="8778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42019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Success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8933459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 delivered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82296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2" name="Image 4" descr="/private/tmp/claude-501/-Users-winnin-Desktop-FIKIRTIVE--claude-worktrees-orchestration-dashboard-design-e914f4/43c820ca-6072-40d4-9469-97e85bbeded7/scratchpad/deck-assets/otto-waiting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06258" y="4457700"/>
            <a:ext cx="960120" cy="8778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296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Waiting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91440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Awaiting the merchant’s approval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349598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6" name="Image 5" descr="/private/tmp/claude-501/-Users-winnin-Desktop-FIKIRTIVE--claude-worktrees-orchestration-dashboard-design-e914f4/43c820ca-6072-40d4-9469-97e85bbeded7/scratchpad/deck-assets/otto-warning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79278" y="4457700"/>
            <a:ext cx="960120" cy="87782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49598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Warning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358742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Attention needed before spending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16900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30" name="Image 6" descr="/private/tmp/claude-501/-Users-winnin-Desktop-FIKIRTIVE--claude-worktrees-orchestration-dashboard-design-e914f4/43c820ca-6072-40d4-9469-97e85bbeded7/scratchpad/deck-assets/otto-error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52298" y="4457700"/>
            <a:ext cx="960120" cy="8778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16900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626044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Something failed</a:t>
            </a:r>
            <a:endParaRPr lang="en-US" sz="800" dirty="0"/>
          </a:p>
        </p:txBody>
      </p:sp>
      <p:sp>
        <p:nvSpPr>
          <p:cNvPr id="33" name="Shape 24"/>
          <p:cNvSpPr/>
          <p:nvPr/>
        </p:nvSpPr>
        <p:spPr>
          <a:xfrm>
            <a:off x="8842019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34" name="Image 7" descr="/private/tmp/claude-501/-Users-winnin-Desktop-FIKIRTIVE--claude-worktrees-orchestration-dashboard-design-e914f4/43c820ca-6072-40d4-9469-97e85bbeded7/scratchpad/deck-assets/otto-approving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625317" y="4457700"/>
            <a:ext cx="960120" cy="87782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8842019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Approving</a:t>
            </a:r>
            <a:endParaRPr lang="en-US" sz="950" dirty="0"/>
          </a:p>
        </p:txBody>
      </p:sp>
      <p:sp>
        <p:nvSpPr>
          <p:cNvPr id="36" name="Text 26"/>
          <p:cNvSpPr/>
          <p:nvPr/>
        </p:nvSpPr>
        <p:spPr>
          <a:xfrm>
            <a:off x="8933459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Approved — the action is running</a:t>
            </a:r>
            <a:endParaRPr lang="en-US" sz="800" dirty="0"/>
          </a:p>
        </p:txBody>
      </p:sp>
      <p:sp>
        <p:nvSpPr>
          <p:cNvPr id="37" name="Text 2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 · TYPOGRAPHY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6858000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93392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Display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57400" y="1993392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48 / 52 · 750 · -2%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520440" y="19933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Good morning, Nicks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2651760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8833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Title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57400" y="268833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28 / 34 · 700 · -1.5%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20440" y="268833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Schedule for this week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97280" y="3200400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2369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Body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57400" y="32369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 / 26 · 400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5204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drafts the plan. Nothing runs until you approve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97280" y="3694176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7307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5740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 / 19 · 500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20440" y="37307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Last edited 2 hours ago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97280" y="4133088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169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57400" y="416966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 / 20 · Mono 400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20440" y="41696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F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1,240 cr · batch 2/4 · 9:16 · RM 2,350.00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0" y="19202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573768" y="19202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All interface and marketing text. Variable weight, 400–800.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2487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JetBrains Mono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73768" y="24871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Numbers and data.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3054096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573768" y="30540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By weight and size, never by changing face.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3621024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Figures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573768" y="36210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Tabular figures in any column of numbers.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229600" y="4187952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License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73768" y="418795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Both faces are open source under the SIL Open Font License (Vercel; JetBrains).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22960" y="6263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Sizes in px at web scale, with line height (size / line). Product surfaces derive their tokens from this scale.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 · COLOR PALETTE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Composition target: 90% neutrals, 8% gradient accents, 2% coral. Semantic colors sit outside the ratio — they signal state only.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FOUNDATION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249424"/>
            <a:ext cx="1375911" cy="475488"/>
          </a:xfrm>
          <a:prstGeom prst="rect">
            <a:avLst/>
          </a:prstGeom>
          <a:solidFill>
            <a:srgbClr val="FAFAFC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Ground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05256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#FAFAFC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345175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63463" y="2249424"/>
            <a:ext cx="1375911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7471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27471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#FFFFFF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867389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5677" y="2249424"/>
            <a:ext cx="1375911" cy="475488"/>
          </a:xfrm>
          <a:prstGeom prst="rect">
            <a:avLst/>
          </a:prstGeom>
          <a:solidFill>
            <a:srgbClr val="F2F3F7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49685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Chrome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949685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#F2F3F7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389604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07892" y="2249424"/>
            <a:ext cx="1375911" cy="475488"/>
          </a:xfrm>
          <a:prstGeom prst="rect">
            <a:avLst/>
          </a:prstGeom>
          <a:solidFill>
            <a:srgbClr val="E8E9EF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71900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71900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#E8E9EF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911819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0107" y="2249424"/>
            <a:ext cx="1375911" cy="475488"/>
          </a:xfrm>
          <a:prstGeom prst="rect">
            <a:avLst/>
          </a:prstGeom>
          <a:solidFill>
            <a:srgbClr val="16171C"/>
          </a:solidFill>
          <a:ln/>
        </p:spPr>
      </p:sp>
      <p:sp>
        <p:nvSpPr>
          <p:cNvPr id="24" name="Text 22"/>
          <p:cNvSpPr/>
          <p:nvPr/>
        </p:nvSpPr>
        <p:spPr>
          <a:xfrm>
            <a:off x="6994115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94115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#16171C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434034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2322" y="2249424"/>
            <a:ext cx="1375911" cy="475488"/>
          </a:xfrm>
          <a:prstGeom prst="rect">
            <a:avLst/>
          </a:prstGeom>
          <a:solidFill>
            <a:srgbClr val="5B5F6C"/>
          </a:solidFill>
          <a:ln/>
        </p:spPr>
      </p:sp>
      <p:sp>
        <p:nvSpPr>
          <p:cNvPr id="28" name="Text 26"/>
          <p:cNvSpPr/>
          <p:nvPr/>
        </p:nvSpPr>
        <p:spPr>
          <a:xfrm>
            <a:off x="8516330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16330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#5B5F6C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9956248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74536" y="2249424"/>
            <a:ext cx="1375911" cy="475488"/>
          </a:xfrm>
          <a:prstGeom prst="rect">
            <a:avLst/>
          </a:prstGeom>
          <a:solidFill>
            <a:srgbClr val="9CA0AC"/>
          </a:solidFill>
          <a:ln/>
        </p:spPr>
      </p:sp>
      <p:sp>
        <p:nvSpPr>
          <p:cNvPr id="32" name="Text 30"/>
          <p:cNvSpPr/>
          <p:nvPr/>
        </p:nvSpPr>
        <p:spPr>
          <a:xfrm>
            <a:off x="10038544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38544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#9CA0AC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22960" y="33467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2960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" y="3639312"/>
            <a:ext cx="1375911" cy="475488"/>
          </a:xfrm>
          <a:prstGeom prst="rect">
            <a:avLst/>
          </a:prstGeom>
          <a:solidFill>
            <a:srgbClr val="EC5828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05256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#EC5828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2345175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63463" y="3639312"/>
            <a:ext cx="1375911" cy="475488"/>
          </a:xfrm>
          <a:prstGeom prst="rect">
            <a:avLst/>
          </a:prstGeom>
          <a:solidFill>
            <a:srgbClr val="FBE7DC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471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soft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427471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#FBE7DC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867389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85677" y="3639312"/>
            <a:ext cx="1375911" cy="475488"/>
          </a:xfrm>
          <a:prstGeom prst="rect">
            <a:avLst/>
          </a:prstGeom>
          <a:solidFill>
            <a:srgbClr val="F5F1E8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9685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949685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#F5F1E8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5389604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07892" y="3639312"/>
            <a:ext cx="1375911" cy="475488"/>
          </a:xfrm>
          <a:prstGeom prst="rect">
            <a:avLst/>
          </a:prstGeom>
          <a:solidFill>
            <a:srgbClr val="2B1308"/>
          </a:solidFill>
          <a:ln/>
        </p:spPr>
      </p:sp>
      <p:sp>
        <p:nvSpPr>
          <p:cNvPr id="49" name="Text 47"/>
          <p:cNvSpPr/>
          <p:nvPr/>
        </p:nvSpPr>
        <p:spPr>
          <a:xfrm>
            <a:off x="5471900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eye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471900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#2B1308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822960" y="4736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SEMANTIC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22960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1248" y="5029200"/>
            <a:ext cx="1375911" cy="4754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4" name="Text 52"/>
          <p:cNvSpPr/>
          <p:nvPr/>
        </p:nvSpPr>
        <p:spPr>
          <a:xfrm>
            <a:off x="905256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Success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905256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#16A34A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2345175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63463" y="5029200"/>
            <a:ext cx="1375911" cy="47548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8" name="Text 56"/>
          <p:cNvSpPr/>
          <p:nvPr/>
        </p:nvSpPr>
        <p:spPr>
          <a:xfrm>
            <a:off x="2427471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Warning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427471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#D97706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3867389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85677" y="5029200"/>
            <a:ext cx="1375911" cy="475488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62" name="Text 60"/>
          <p:cNvSpPr/>
          <p:nvPr/>
        </p:nvSpPr>
        <p:spPr>
          <a:xfrm>
            <a:off x="3949685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949685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#E5484D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5389604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07892" y="5029200"/>
            <a:ext cx="1375911" cy="475488"/>
          </a:xfrm>
          <a:prstGeom prst="rect">
            <a:avLst/>
          </a:prstGeom>
          <a:solidFill>
            <a:srgbClr val="3B6FE6"/>
          </a:solidFill>
          <a:ln/>
        </p:spPr>
      </p:sp>
      <p:sp>
        <p:nvSpPr>
          <p:cNvPr id="66" name="Text 64"/>
          <p:cNvSpPr/>
          <p:nvPr/>
        </p:nvSpPr>
        <p:spPr>
          <a:xfrm>
            <a:off x="5471900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Info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471900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#3B6FE6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822960" y="60533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Pairings. </a:t>
            </a:r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 on neutrals: ink for primary, Ink 2 for secondary, Ink 3 for captions. Text on semantic fills: white. Ink as a full-bleed ground: covers and closing surfaces only. Digital-first palette — hex is the source of truth; print matching is defined when print work is commissioned.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 · COLOR PALETTE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Linear, 135°, two stops.</a:t>
            </a:r>
            <a:endParaRPr lang="en-US" sz="105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grad-vio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3381146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366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Violet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78992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366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#EDE9FE – #DBEAFE · text #3B3663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78992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6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Start tiles, template cards</a:t>
            </a:r>
            <a:endParaRPr lang="en-US" sz="900" dirty="0"/>
          </a:p>
        </p:txBody>
      </p:sp>
      <p:pic>
        <p:nvPicPr>
          <p:cNvPr id="9" name="Image 1" descr="/private/tmp/claude-501/-Users-winnin-Desktop-FIKIRTIVE--claude-worktrees-orchestration-dashboard-design-e914f4/43c820ca-6072-40d4-9469-97e85bbeded7/scratchpad/deck-assets/grad-p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274" y="1920240"/>
            <a:ext cx="3381146" cy="2377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1306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D2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Peach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661306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3D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#FFEDD5 – #FFE1E1 · text #7C3D2A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4661306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D2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Campaign tiles, empty states</a:t>
            </a:r>
            <a:endParaRPr lang="en-US" sz="900" dirty="0"/>
          </a:p>
        </p:txBody>
      </p:sp>
      <p:pic>
        <p:nvPicPr>
          <p:cNvPr id="13" name="Image 2" descr="/private/tmp/claude-501/-Users-winnin-Desktop-FIKIRTIVE--claude-worktrees-orchestration-dashboard-design-e914f4/43c820ca-6072-40d4-9469-97e85bbeded7/scratchpad/deck-assets/grad-sk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589" y="1920240"/>
            <a:ext cx="3381146" cy="23774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43621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A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Sky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243621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4A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#E0F2FE – #EDE9FE · text #2E4A66</a:t>
            </a:r>
            <a:endParaRPr lang="en-US" sz="750" dirty="0"/>
          </a:p>
        </p:txBody>
      </p:sp>
      <p:sp>
        <p:nvSpPr>
          <p:cNvPr id="16" name="Text 11"/>
          <p:cNvSpPr/>
          <p:nvPr/>
        </p:nvSpPr>
        <p:spPr>
          <a:xfrm>
            <a:off x="8243621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A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cards, onboarding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822960" y="48920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2441448" y="489204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matching deep tone shown on each tile, at 4.5:1 contrast or better.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822960" y="52760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441448" y="527608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 buttons, body-text backgrounds, chart data, photography, or full pages. At most two tiles per screen, never two adjacent from the same family.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22960" y="584301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2441448" y="584301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product UI, coral marks Otto. Human-action buttons are ink #16171C.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 · IMAGERY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Imagery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Photography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304288" y="18288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stock photography. Use product screenshots, gradient tiles, or the Otto cloud.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Merchant work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04288" y="23957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Generated images and videos sit on a white card with a hairline border and soft shadow. No filters, brand-color overlays, or watermarks.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1455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Illustration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04288" y="31455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is the only illustrated character.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5295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Icons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04288" y="35295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Thin-line geometric icons with a uniform stroke, colored to match the text. Icons never use coral.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40965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16 px dot grid marks the canvas workspace only.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04288" y="4480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Accent tiles on content only — rules in 03 · Color palette.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200390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6171C">
                <a:alpha val="10000"/>
              </a:srgbClr>
            </a:outerShdw>
          </a:effectLst>
        </p:spPr>
      </p:sp>
      <p:pic>
        <p:nvPicPr>
          <p:cNvPr id="17" name="Image 0" descr="/private/tmp/claude-501/-Users-winnin-Desktop-FIKIRTIVE--claude-worktrees-orchestration-dashboard-design-e914f4/43c820ca-6072-40d4-9469-97e85bbeded7/scratchpad/deck-assets/grad-peach-s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7768" y="1892808"/>
            <a:ext cx="1784452" cy="119786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086600" y="3246120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Merchant work — card, hairline, shadow</a:t>
            </a:r>
            <a:endParaRPr lang="en-US" sz="800" dirty="0"/>
          </a:p>
        </p:txBody>
      </p:sp>
      <p:pic>
        <p:nvPicPr>
          <p:cNvPr id="19" name="Image 1" descr="/private/tmp/claude-501/-Users-winnin-Desktop-FIKIRTIVE--claude-worktrees-orchestration-dashboard-design-e914f4/43c820ca-6072-40d4-9469-97e85bbeded7/scratchpad/deck-assets/dot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828" y="1783080"/>
            <a:ext cx="2003908" cy="1417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273388" y="3246120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Canvas dot grid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7178040" y="3584448"/>
            <a:ext cx="200390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2" name="Image 2" descr="/private/tmp/claude-501/-Users-winnin-Desktop-FIKIRTIVE--claude-worktrees-orchestration-dashboard-design-e914f4/43c820ca-6072-40d4-9469-97e85bbeded7/scratchpad/deck-assets/ic-cal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53630" y="4169664"/>
            <a:ext cx="246888" cy="246888"/>
          </a:xfrm>
          <a:prstGeom prst="rect">
            <a:avLst/>
          </a:prstGeom>
        </p:spPr>
      </p:pic>
      <p:pic>
        <p:nvPicPr>
          <p:cNvPr id="23" name="Image 3" descr="/private/tmp/claude-501/-Users-winnin-Desktop-FIKIRTIVE--claude-worktrees-orchestration-dashboard-design-e914f4/43c820ca-6072-40d4-9469-97e85bbeded7/scratchpad/deck-assets/ic-img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10830" y="4169664"/>
            <a:ext cx="246888" cy="246888"/>
          </a:xfrm>
          <a:prstGeom prst="rect">
            <a:avLst/>
          </a:prstGeom>
        </p:spPr>
      </p:pic>
      <p:pic>
        <p:nvPicPr>
          <p:cNvPr id="24" name="Image 4" descr="/private/tmp/claude-501/-Users-winnin-Desktop-FIKIRTIVE--claude-worktrees-orchestration-dashboard-design-e914f4/43c820ca-6072-40d4-9469-97e85bbeded7/scratchpad/deck-assets/ic-chart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68030" y="4169664"/>
            <a:ext cx="246888" cy="2468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086600" y="5047488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Icon style — thin line, uniform stroke</a:t>
            </a:r>
            <a:endParaRPr lang="en-US" sz="800" dirty="0"/>
          </a:p>
        </p:txBody>
      </p:sp>
      <p:pic>
        <p:nvPicPr>
          <p:cNvPr id="26" name="Image 5" descr="/private/tmp/claude-501/-Users-winnin-Desktop-FIKIRTIVE--claude-worktrees-orchestration-dashboard-design-e914f4/43c820ca-6072-40d4-9469-97e85bbeded7/scratchpad/deck-assets/grad-sk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4828" y="3584448"/>
            <a:ext cx="2003908" cy="1417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273388" y="5047488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 accent tile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 · AUDIENCE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Audience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Small-business owners.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87168"/>
            <a:ext cx="6309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They run the store and the marketing alone — no team and no time to learn prompting. They need plans they can read, costs shown before anything runs, and a record of everything that happened.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Global by default. Southeast Asia is the first market, not the frame of reference. Anything involving money is specific: amounts, counts, dates.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test for every line of copy: readable in one pass.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 · VOICE AND TONE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Voice and tone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voices. The product is neutral and precise. Otto speaks plainly, in the first person. Both are honest about cost and status — serious about spending, calm about failure.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2212848"/>
            <a:ext cx="10545775" cy="329184"/>
          </a:xfrm>
          <a:prstGeom prst="roundRect">
            <a:avLst>
              <a:gd name="adj" fmla="val 16667"/>
            </a:avLst>
          </a:prstGeom>
          <a:solidFill>
            <a:srgbClr val="F2F3F7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22494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0" y="2249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543800" y="2249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69264" y="27249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Empty state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0" y="27249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here yet — start your first canvas.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543800" y="27249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Your creative journey awaits! 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73552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3383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Before spending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3383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images · 12 cr. Generate?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43800" y="3383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Charging first; pricing hidden in a tooltip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931920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40416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0" y="40416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didn’t go through. Your credits are untouched — try again.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543800" y="40416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Oops! Something went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59028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700016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Unshipped features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0" y="470001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Publishing isn’t switched on yet, so this stays a draft.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43800" y="470001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Coming soon!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24865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9264" y="535838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working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Making 4 images for “Raya promo” — 2 are done.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543800" y="53583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spinner with no words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590702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 · GRAMMAR AND STYLE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Grammar and style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Spelling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761488" y="1828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American English: color, favorite, organize.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Casing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61488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Sentence case everywhere — titles, buttons, navigation. All caps only for small labels, with letter-spacing.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Oxford comma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61488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Always: posts, images, and videos.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Currency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RM 2,350.00 — currency prefix, thousands separator, two decimals. Credits as 1,240 cr.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61488" y="3657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 Aug 2026. Month and year: Aug 2026. Short contexts: Fri, 12 Aug.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Numbers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61488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Numerals in UI copy: 4 images, 2 done.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Product terms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61488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in text. fikirtive as the wordmark. Otto always capitalized; credits and canvas always lowercase.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029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61488" y="5029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customer-facing copy: “Coming soon,” AI vendor or model names, numbers without a source.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 · TAGLINE AND BOILERPLATE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Tagline and boilerplate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95528" y="1783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marketing OS</a:t>
            </a:r>
            <a:pPr indent="0" marL="0">
              <a:buNone/>
            </a:pPr>
            <a:r>
              <a:rPr lang="en-US" sz="4000" b="1" spc="-100" kern="0" dirty="0">
                <a:solidFill>
                  <a:srgbClr val="EC582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Setting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41448" y="301752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 750, -2.8% tracking, always with the period.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period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41448" y="3383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May be coral #EC5828; never any other color.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Placement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41448" y="37490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May sit under the wordmark on covers. Never a headline substitute in running copy.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Boilerplate — use verbatim: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4956048"/>
            <a:ext cx="10545775" cy="1371600"/>
          </a:xfrm>
          <a:prstGeom prst="roundRect">
            <a:avLst>
              <a:gd name="adj" fmla="val 6667"/>
            </a:avLst>
          </a:prstGeom>
          <a:solidFill>
            <a:srgbClr val="FAFAFC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5102352"/>
            <a:ext cx="1007028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is the all-in-one marketing OS for small businesses. It gives merchants complete, hands-on marketing tools — creation, campaigns, scheduling, and publishing — plus Otto, an AI marketing operator that researches, plans, and executes with the merchant’s approval. Every action is transparent: merchants see what things cost before they run, and everything leaves a trail they can read. Fikirtive is operated by BELCORT SDN BHD.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2928" y="19659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2004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50" kern="0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0" y="376732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marketing OS</a:t>
            </a:r>
            <a:pPr algn="ctr" indent="0" marL="0">
              <a:buNone/>
            </a:pPr>
            <a:r>
              <a:rPr lang="en-US" sz="1350" b="1" dirty="0">
                <a:solidFill>
                  <a:srgbClr val="EC582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0" y="45262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guidelines · Version 4 · Aug 2026 · nicksgan@belcort.com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Fikirtive brand guidelines</dc:title>
  <dc:subject>PptxGenJS Presentation</dc:subject>
  <dc:creator>Fikirtive</dc:creator>
  <cp:lastModifiedBy>Fikirtive</cp:lastModifiedBy>
  <cp:revision>1</cp:revision>
  <dcterms:created xsi:type="dcterms:W3CDTF">2026-08-20T07:05:50Z</dcterms:created>
  <dcterms:modified xsi:type="dcterms:W3CDTF">2026-08-20T07:05:50Z</dcterms:modified>
</cp:coreProperties>
</file>