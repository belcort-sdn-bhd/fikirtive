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svg"/><Relationship Id="rId11" Type="http://schemas.openxmlformats.org/officeDocument/2006/relationships/image" Target="../media/image-3-11.png"/><Relationship Id="rId12" Type="http://schemas.openxmlformats.org/officeDocument/2006/relationships/image" Target="../media/image-3-12.svg"/><Relationship Id="rId13" Type="http://schemas.openxmlformats.org/officeDocument/2006/relationships/image" Target="../media/image-3-13.png"/><Relationship Id="rId14" Type="http://schemas.openxmlformats.org/officeDocument/2006/relationships/image" Target="../media/image-3-14.svg"/><Relationship Id="rId15" Type="http://schemas.openxmlformats.org/officeDocument/2006/relationships/image" Target="../media/image-3-15.png"/><Relationship Id="rId16" Type="http://schemas.openxmlformats.org/officeDocument/2006/relationships/image" Target="../media/image-3-16.svg"/><Relationship Id="rId17" Type="http://schemas.openxmlformats.org/officeDocument/2006/relationships/image" Target="../media/image-3-17.png"/><Relationship Id="rId18" Type="http://schemas.openxmlformats.org/officeDocument/2006/relationships/image" Target="../media/image-3-18.sv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svg"/><Relationship Id="rId10" Type="http://schemas.openxmlformats.org/officeDocument/2006/relationships/image" Target="../media/image-5-10.png"/><Relationship Id="rId11" Type="http://schemas.openxmlformats.org/officeDocument/2006/relationships/image" Target="../media/image-5-11.sv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svg"/><Relationship Id="rId6" Type="http://schemas.openxmlformats.org/officeDocument/2006/relationships/image" Target="../media/image-12-6.png"/><Relationship Id="rId7" Type="http://schemas.openxmlformats.org/officeDocument/2006/relationships/image" Target="../media/image-12-7.svg"/><Relationship Id="rId8" Type="http://schemas.openxmlformats.org/officeDocument/2006/relationships/image" Target="../media/image-12-8.png"/><Relationship Id="rId9" Type="http://schemas.openxmlformats.org/officeDocument/2006/relationships/image" Target="../media/image-12-9.sv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innin-Desktop-FIKIRTIVE--claude-worktrees-orchestration-dashboard-design-e914f4/43c820ca-6072-40d4-9469-97e85bbeded7/scratchpad/deck-assets/appicon-cora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74980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72768" y="7498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-50" kern="0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22960" y="3520440"/>
            <a:ext cx="9144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62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Brand</a:t>
            </a:r>
            <a:endParaRPr lang="en-US" sz="6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62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guidelines</a:t>
            </a:r>
            <a:endParaRPr lang="en-US" sz="6200" dirty="0"/>
          </a:p>
        </p:txBody>
      </p:sp>
      <p:sp>
        <p:nvSpPr>
          <p:cNvPr id="5" name="Text 2"/>
          <p:cNvSpPr/>
          <p:nvPr/>
        </p:nvSpPr>
        <p:spPr>
          <a:xfrm>
            <a:off x="822960" y="6108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Version 4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8625535" y="6108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Aug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BRAND GUIDELINES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Contents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71600" y="19659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Logos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088575" y="19659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03–08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2350008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957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239572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Typography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088575" y="239572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09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779776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254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0" y="282549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Color palette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0088575" y="282549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10–11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2960" y="3209544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552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71600" y="3255264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Imagery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088575" y="32552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2960" y="3639312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68503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71600" y="3685032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Audience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088575" y="368503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2960" y="4069080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1148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71600" y="411480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Voice and tone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088575" y="4114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14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2960" y="4498848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5445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71600" y="454456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Grammar and style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088575" y="45445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15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2960" y="4928616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9743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371600" y="497433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Tagline and boilerplate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10088575" y="497433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5358384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6217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Brand questions: Nicks Gan · nicksgan@belcort.com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· LOGOS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marks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3931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F mark represents the company: hand-drawn strokes with rounded terminals, ending in three dots. The Otto cloud represents Otto, Fikirtive’s AI marketing operator.
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Never interchange the two marks.</a:t>
            </a:r>
            <a:endParaRPr lang="en-US" sz="1150" dirty="0"/>
          </a:p>
        </p:txBody>
      </p:sp>
      <p:pic>
        <p:nvPicPr>
          <p:cNvPr id="5" name="Image 0" descr="/private/tmp/claude-501/-Users-winnin-Desktop-FIKIRTIVE--claude-worktrees-orchestration-dashboard-design-e914f4/43c820ca-6072-40d4-9469-97e85bbeded7/scratchpad/deck-assets/f-in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80" y="5029200"/>
            <a:ext cx="603504" cy="7498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88873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company</a:t>
            </a:r>
            <a:endParaRPr lang="en-US" sz="850" dirty="0"/>
          </a:p>
        </p:txBody>
      </p:sp>
      <p:pic>
        <p:nvPicPr>
          <p:cNvPr id="7" name="Image 1" descr="/private/tmp/claude-501/-Users-winnin-Desktop-FIKIRTIVE--claude-worktrees-orchestration-dashboard-design-e914f4/43c820ca-6072-40d4-9469-97e85bbeded7/scratchpad/deck-assets/otto-idle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23160" y="5230368"/>
            <a:ext cx="804672" cy="7406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194560" y="5888736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Otto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5394960" y="1737360"/>
            <a:ext cx="1370000" cy="1874520"/>
          </a:xfrm>
          <a:prstGeom prst="roundRect">
            <a:avLst>
              <a:gd name="adj" fmla="val 8009"/>
            </a:avLst>
          </a:prstGeom>
          <a:solidFill>
            <a:srgbClr val="F5F1E8"/>
          </a:solidFill>
          <a:ln/>
        </p:spPr>
      </p:sp>
      <p:pic>
        <p:nvPicPr>
          <p:cNvPr id="10" name="Image 2" descr="/private/tmp/claude-501/-Users-winnin-Desktop-FIKIRTIVE--claude-worktrees-orchestration-dashboard-design-e914f4/43c820ca-6072-40d4-9469-97e85bbeded7/scratchpad/deck-assets/f-ink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45620" y="2135124"/>
            <a:ext cx="868680" cy="10789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321808" y="3666744"/>
            <a:ext cx="151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Ink — on light grounds</a:t>
            </a:r>
            <a:endParaRPr lang="en-US" sz="850" dirty="0"/>
          </a:p>
        </p:txBody>
      </p:sp>
      <p:sp>
        <p:nvSpPr>
          <p:cNvPr id="12" name="Shape 7"/>
          <p:cNvSpPr/>
          <p:nvPr/>
        </p:nvSpPr>
        <p:spPr>
          <a:xfrm>
            <a:off x="6929552" y="1737360"/>
            <a:ext cx="1370000" cy="1874520"/>
          </a:xfrm>
          <a:prstGeom prst="roundRect">
            <a:avLst>
              <a:gd name="adj" fmla="val 8009"/>
            </a:avLst>
          </a:prstGeom>
          <a:solidFill>
            <a:srgbClr val="141414"/>
          </a:solidFill>
          <a:ln/>
        </p:spPr>
      </p:sp>
      <p:pic>
        <p:nvPicPr>
          <p:cNvPr id="13" name="Image 3" descr="/private/tmp/claude-501/-Users-winnin-Desktop-FIKIRTIVE--claude-worktrees-orchestration-dashboard-design-e914f4/43c820ca-6072-40d4-9469-97e85bbeded7/scratchpad/deck-assets/f-paper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80212" y="2135124"/>
            <a:ext cx="868680" cy="10789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856400" y="3666744"/>
            <a:ext cx="151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Paper — on ink</a:t>
            </a:r>
            <a:endParaRPr lang="en-US" sz="850" dirty="0"/>
          </a:p>
        </p:txBody>
      </p:sp>
      <p:sp>
        <p:nvSpPr>
          <p:cNvPr id="15" name="Shape 9"/>
          <p:cNvSpPr/>
          <p:nvPr/>
        </p:nvSpPr>
        <p:spPr>
          <a:xfrm>
            <a:off x="8464144" y="1737360"/>
            <a:ext cx="1370000" cy="1874520"/>
          </a:xfrm>
          <a:prstGeom prst="roundRect">
            <a:avLst>
              <a:gd name="adj" fmla="val 8009"/>
            </a:avLst>
          </a:prstGeom>
          <a:solidFill>
            <a:srgbClr val="5B5F6C"/>
          </a:solidFill>
          <a:ln/>
        </p:spPr>
      </p:sp>
      <p:pic>
        <p:nvPicPr>
          <p:cNvPr id="16" name="Image 4" descr="/private/tmp/claude-501/-Users-winnin-Desktop-FIKIRTIVE--claude-worktrees-orchestration-dashboard-design-e914f4/43c820ca-6072-40d4-9469-97e85bbeded7/scratchpad/deck-assets/f-white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14803" y="2135124"/>
            <a:ext cx="868680" cy="107899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390992" y="3666744"/>
            <a:ext cx="151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White — on photography</a:t>
            </a:r>
            <a:endParaRPr lang="en-US" sz="850" dirty="0"/>
          </a:p>
        </p:txBody>
      </p:sp>
      <p:sp>
        <p:nvSpPr>
          <p:cNvPr id="18" name="Shape 11"/>
          <p:cNvSpPr/>
          <p:nvPr/>
        </p:nvSpPr>
        <p:spPr>
          <a:xfrm>
            <a:off x="9998735" y="1737360"/>
            <a:ext cx="1370000" cy="1874520"/>
          </a:xfrm>
          <a:prstGeom prst="roundRect">
            <a:avLst>
              <a:gd name="adj" fmla="val 8009"/>
            </a:avLst>
          </a:prstGeom>
          <a:solidFill>
            <a:srgbClr val="F5F1E8"/>
          </a:solidFill>
          <a:ln/>
        </p:spPr>
      </p:sp>
      <p:pic>
        <p:nvPicPr>
          <p:cNvPr id="19" name="Image 5" descr="/private/tmp/claude-501/-Users-winnin-Desktop-FIKIRTIVE--claude-worktrees-orchestration-dashboard-design-e914f4/43c820ca-6072-40d4-9469-97e85bbeded7/scratchpad/deck-assets/f-coral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49395" y="2135124"/>
            <a:ext cx="868680" cy="107899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9925583" y="3666744"/>
            <a:ext cx="151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Coral — on paper or white only</a:t>
            </a:r>
            <a:endParaRPr lang="en-US" sz="850" dirty="0"/>
          </a:p>
        </p:txBody>
      </p:sp>
      <p:pic>
        <p:nvPicPr>
          <p:cNvPr id="21" name="Image 6" descr="/private/tmp/claude-501/-Users-winnin-Desktop-FIKIRTIVE--claude-worktrees-orchestration-dashboard-design-e914f4/43c820ca-6072-40d4-9469-97e85bbeded7/scratchpad/deck-assets/tile-black.sv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809945" y="4526280"/>
            <a:ext cx="1051560" cy="105156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321808" y="5650992"/>
            <a:ext cx="202783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Black tile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Formal contexts</a:t>
            </a:r>
            <a:endParaRPr lang="en-US" sz="850" dirty="0"/>
          </a:p>
        </p:txBody>
      </p:sp>
      <p:pic>
        <p:nvPicPr>
          <p:cNvPr id="23" name="Image 7" descr="/private/tmp/claude-501/-Users-winnin-Desktop-FIKIRTIVE--claude-worktrees-orchestration-dashboard-design-e914f4/43c820ca-6072-40d4-9469-97e85bbeded7/scratchpad/deck-assets/tile-coral.sv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856068" y="4526280"/>
            <a:ext cx="1051560" cy="1051560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7367930" y="5650992"/>
            <a:ext cx="202783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Coral tile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Default identity</a:t>
            </a:r>
            <a:endParaRPr lang="en-US" sz="850" dirty="0"/>
          </a:p>
        </p:txBody>
      </p:sp>
      <p:pic>
        <p:nvPicPr>
          <p:cNvPr id="25" name="Image 8" descr="/private/tmp/claude-501/-Users-winnin-Desktop-FIKIRTIVE--claude-worktrees-orchestration-dashboard-design-e914f4/43c820ca-6072-40d4-9469-97e85bbeded7/scratchpad/deck-assets/appicon-coral.sv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902190" y="4526280"/>
            <a:ext cx="1051560" cy="1051560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9414053" y="5650992"/>
            <a:ext cx="202783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App icon · favicon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OS icon grids</a:t>
            </a:r>
            <a:endParaRPr lang="en-US" sz="850" dirty="0"/>
          </a:p>
        </p:txBody>
      </p:sp>
      <p:sp>
        <p:nvSpPr>
          <p:cNvPr id="27" name="Text 16"/>
          <p:cNvSpPr/>
          <p:nvPr/>
        </p:nvSpPr>
        <p:spPr>
          <a:xfrm>
            <a:off x="5394960" y="6355080"/>
            <a:ext cx="59737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Tile corner radius: 22.5% of the side; the app icon is rounder for OS icon grids. All tiles carry the paper mark.</a:t>
            </a:r>
            <a:endParaRPr lang="en-US" sz="850" dirty="0"/>
          </a:p>
        </p:txBody>
      </p:sp>
      <p:sp>
        <p:nvSpPr>
          <p:cNvPr id="28" name="Text 17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· LOGOS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Clear space and minimum size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5029200" cy="4297680"/>
          </a:xfrm>
          <a:prstGeom prst="roundRect">
            <a:avLst>
              <a:gd name="adj" fmla="val 2979"/>
            </a:avLst>
          </a:prstGeom>
          <a:solidFill>
            <a:srgbClr val="FAFAFC"/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2240280"/>
            <a:ext cx="3017520" cy="3383280"/>
          </a:xfrm>
          <a:prstGeom prst="rect">
            <a:avLst/>
          </a:prstGeom>
          <a:ln w="15240">
            <a:solidFill>
              <a:srgbClr val="C9CBD6"/>
            </a:solidFill>
            <a:prstDash val="dash"/>
          </a:ln>
        </p:spPr>
      </p:sp>
      <p:pic>
        <p:nvPicPr>
          <p:cNvPr id="6" name="Image 0" descr="/private/tmp/claude-501/-Users-winnin-Desktop-FIKIRTIVE--claude-worktrees-orchestration-dashboard-design-e914f4/43c820ca-6072-40d4-9469-97e85bbeded7/scratchpad/deck-assets/f-in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83180" y="2994660"/>
            <a:ext cx="1508760" cy="1874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71800" y="235000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x/4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920240" y="38221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x/4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206240" y="38221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x/4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971800" y="52852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x/4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" y="6263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x = the mark’s height. Nothing enters the clear zone — type, marks, or the page edge.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400800" y="19202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Clear space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019288" y="19202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quarter of the mark height (x/4), on all four sides.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400800" y="242316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Minimum size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019288" y="24231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Tile 16 px / 4 mm. Bare F mark 24 px / 6 mm. Lockup 24 px / 6 mm tile height.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0" y="313639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Scaling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19288" y="3136392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Scale proportionally. Use the official exports; do not redraw.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400800" y="3849624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Placement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019288" y="384962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Browser tabs and app icons: coral tile. Formal documents: black tile. On color: paper or ink mark, inside a tile. On photography: the white mark.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· LOGOS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Misuse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405530" cy="2112264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17594" y="1938528"/>
            <a:ext cx="201168" cy="201168"/>
          </a:xfrm>
          <a:prstGeom prst="ellipse">
            <a:avLst/>
          </a:prstGeom>
          <a:solidFill>
            <a:srgbClr val="FDE8E8"/>
          </a:solidFill>
          <a:ln/>
        </p:spPr>
      </p:sp>
      <p:sp>
        <p:nvSpPr>
          <p:cNvPr id="6" name="Shape 4"/>
          <p:cNvSpPr/>
          <p:nvPr/>
        </p:nvSpPr>
        <p:spPr>
          <a:xfrm>
            <a:off x="3967886" y="1988820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3967886" y="1988820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pic>
        <p:nvPicPr>
          <p:cNvPr id="8" name="Image 0" descr="/private/tmp/claude-501/-Users-winnin-Desktop-FIKIRTIVE--claude-worktrees-orchestration-dashboard-design-e914f4/43c820ca-6072-40d4-9469-97e85bbeded7/scratchpad/deck-assets/mis-gree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50821" y="2135124"/>
            <a:ext cx="749808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3374136"/>
            <a:ext cx="30397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 recolor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93082" y="1828800"/>
            <a:ext cx="3405530" cy="2112264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87717" y="1938528"/>
            <a:ext cx="201168" cy="201168"/>
          </a:xfrm>
          <a:prstGeom prst="ellipse">
            <a:avLst/>
          </a:prstGeom>
          <a:solidFill>
            <a:srgbClr val="FDE8E8"/>
          </a:solidFill>
          <a:ln/>
        </p:spPr>
      </p:sp>
      <p:sp>
        <p:nvSpPr>
          <p:cNvPr id="12" name="Shape 9"/>
          <p:cNvSpPr/>
          <p:nvPr/>
        </p:nvSpPr>
        <p:spPr>
          <a:xfrm>
            <a:off x="7538009" y="1988820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H="1">
            <a:off x="7538009" y="1988820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pic>
        <p:nvPicPr>
          <p:cNvPr id="14" name="Image 1" descr="/private/tmp/claude-501/-Users-winnin-Desktop-FIKIRTIVE--claude-worktrees-orchestration-dashboard-design-e914f4/43c820ca-6072-40d4-9469-97e85bbeded7/scratchpad/deck-assets/mis-rotate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5224" y="2080260"/>
            <a:ext cx="841248" cy="104241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75962" y="3374136"/>
            <a:ext cx="30397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 rotate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963205" y="1828800"/>
            <a:ext cx="3405530" cy="2112264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1057839" y="1938528"/>
            <a:ext cx="201168" cy="201168"/>
          </a:xfrm>
          <a:prstGeom prst="ellipse">
            <a:avLst/>
          </a:prstGeom>
          <a:solidFill>
            <a:srgbClr val="FDE8E8"/>
          </a:solidFill>
          <a:ln/>
        </p:spPr>
      </p:sp>
      <p:sp>
        <p:nvSpPr>
          <p:cNvPr id="18" name="Shape 14"/>
          <p:cNvSpPr/>
          <p:nvPr/>
        </p:nvSpPr>
        <p:spPr>
          <a:xfrm>
            <a:off x="11108131" y="1988820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flipH="1">
            <a:off x="11108131" y="1988820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pic>
        <p:nvPicPr>
          <p:cNvPr id="20" name="Image 2" descr="/private/tmp/claude-501/-Users-winnin-Desktop-FIKIRTIVE--claude-worktrees-orchestration-dashboard-design-e914f4/43c820ca-6072-40d4-9469-97e85bbeded7/scratchpad/deck-assets/mis-stretch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80170" y="2208276"/>
            <a:ext cx="1371600" cy="78638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146085" y="3374136"/>
            <a:ext cx="30397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 stretch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822960" y="4105656"/>
            <a:ext cx="3405530" cy="2112264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3917594" y="4215384"/>
            <a:ext cx="201168" cy="201168"/>
          </a:xfrm>
          <a:prstGeom prst="ellipse">
            <a:avLst/>
          </a:prstGeom>
          <a:solidFill>
            <a:srgbClr val="FDE8E8"/>
          </a:solidFill>
          <a:ln/>
        </p:spPr>
      </p:sp>
      <p:sp>
        <p:nvSpPr>
          <p:cNvPr id="24" name="Shape 19"/>
          <p:cNvSpPr/>
          <p:nvPr/>
        </p:nvSpPr>
        <p:spPr>
          <a:xfrm>
            <a:off x="3967886" y="4265676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 flipH="1">
            <a:off x="3967886" y="4265676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pic>
        <p:nvPicPr>
          <p:cNvPr id="26" name="Image 3" descr="/private/tmp/claude-501/-Users-winnin-Desktop-FIKIRTIVE--claude-worktrees-orchestration-dashboard-design-e914f4/43c820ca-6072-40d4-9469-97e85bbeded7/scratchpad/deck-assets/grad-peach-sq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8485" y="4366260"/>
            <a:ext cx="1554480" cy="1033272"/>
          </a:xfrm>
          <a:prstGeom prst="rect">
            <a:avLst/>
          </a:prstGeom>
        </p:spPr>
      </p:pic>
      <p:pic>
        <p:nvPicPr>
          <p:cNvPr id="27" name="Image 4" descr="/private/tmp/claude-501/-Users-winnin-Desktop-FIKIRTIVE--claude-worktrees-orchestration-dashboard-design-e914f4/43c820ca-6072-40d4-9469-97e85bbeded7/scratchpad/deck-assets/f-coral.sv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178253" y="4448556"/>
            <a:ext cx="694944" cy="85953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05840" y="5650992"/>
            <a:ext cx="30397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 put the coral mark on color — use paper or ink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393082" y="4105656"/>
            <a:ext cx="3405530" cy="2112264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7487717" y="4215384"/>
            <a:ext cx="201168" cy="201168"/>
          </a:xfrm>
          <a:prstGeom prst="ellipse">
            <a:avLst/>
          </a:prstGeom>
          <a:solidFill>
            <a:srgbClr val="FDE8E8"/>
          </a:solidFill>
          <a:ln/>
        </p:spPr>
      </p:sp>
      <p:sp>
        <p:nvSpPr>
          <p:cNvPr id="31" name="Shape 24"/>
          <p:cNvSpPr/>
          <p:nvPr/>
        </p:nvSpPr>
        <p:spPr>
          <a:xfrm>
            <a:off x="7538009" y="4265676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 flipH="1">
            <a:off x="7538009" y="4265676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pic>
        <p:nvPicPr>
          <p:cNvPr id="33" name="Image 5" descr="/private/tmp/claude-501/-Users-winnin-Desktop-FIKIRTIVE--claude-worktrees-orchestration-dashboard-design-e914f4/43c820ca-6072-40d4-9469-97e85bbeded7/scratchpad/deck-assets/mis-shadow.sv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02656" y="4402836"/>
            <a:ext cx="786384" cy="95097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4575962" y="5650992"/>
            <a:ext cx="30397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 add shadows, outlines, or glows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7963205" y="4105656"/>
            <a:ext cx="3405530" cy="2112264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11057839" y="4215384"/>
            <a:ext cx="201168" cy="201168"/>
          </a:xfrm>
          <a:prstGeom prst="ellipse">
            <a:avLst/>
          </a:prstGeom>
          <a:solidFill>
            <a:srgbClr val="FDE8E8"/>
          </a:solidFill>
          <a:ln/>
        </p:spPr>
      </p:sp>
      <p:sp>
        <p:nvSpPr>
          <p:cNvPr id="37" name="Shape 29"/>
          <p:cNvSpPr/>
          <p:nvPr/>
        </p:nvSpPr>
        <p:spPr>
          <a:xfrm>
            <a:off x="11108131" y="4265676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 flipH="1">
            <a:off x="11108131" y="4265676"/>
            <a:ext cx="100584" cy="100584"/>
          </a:xfrm>
          <a:prstGeom prst="line">
            <a:avLst/>
          </a:prstGeom>
          <a:noFill/>
          <a:ln w="20320">
            <a:solidFill>
              <a:srgbClr val="E5484D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237525" y="4567428"/>
            <a:ext cx="28568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16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fikirtive</a:t>
            </a:r>
            <a:endParaRPr lang="en-US" sz="2400" dirty="0"/>
          </a:p>
        </p:txBody>
      </p:sp>
      <p:sp>
        <p:nvSpPr>
          <p:cNvPr id="40" name="Text 32"/>
          <p:cNvSpPr/>
          <p:nvPr/>
        </p:nvSpPr>
        <p:spPr>
          <a:xfrm>
            <a:off x="8146085" y="5650992"/>
            <a:ext cx="30397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 re-typeset the wordmark</a:t>
            </a:r>
            <a:endParaRPr lang="en-US" sz="950" dirty="0"/>
          </a:p>
        </p:txBody>
      </p:sp>
      <p:sp>
        <p:nvSpPr>
          <p:cNvPr id="41" name="Text 33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· LOGOS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Wordmark and lockup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164592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-150" kern="0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</a:t>
            </a:r>
            <a:endParaRPr lang="en-US" sz="6400" dirty="0"/>
          </a:p>
        </p:txBody>
      </p:sp>
      <p:pic>
        <p:nvPicPr>
          <p:cNvPr id="5" name="Image 0" descr="/private/tmp/claude-501/-Users-winnin-Desktop-FIKIRTIVE--claude-worktrees-orchestration-dashboard-design-e914f4/43c820ca-6072-40d4-9469-97e85bbeded7/scratchpad/deck-assets/appicon-cora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65592" y="1810512"/>
            <a:ext cx="512064" cy="5120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23960" y="181051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165592" y="2432304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Lockup construction: tile height = x · gap = x/3 · wordmark height = x/2, centered on the tile. Reversed lockup uses the paper wordmark on ink.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" y="31089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Setting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578608" y="3108960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Geist, weight 750, -3% tracking, always lowercase. Never re-typeset from another face; use the master asset.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345643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Reversed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578608" y="3456432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Paper #F5F1E8 on ink. Used on the back cover of this document.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2296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 running text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578608" y="3803904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5137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Retired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578608" y="4151376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strike="sngStrike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 in all caps.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22960" y="449884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Legal entity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578608" y="4498848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BELCORT SDN BHD.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22960" y="5074920"/>
            <a:ext cx="10545775" cy="1188720"/>
          </a:xfrm>
          <a:prstGeom prst="roundRect">
            <a:avLst>
              <a:gd name="adj" fmla="val 9231"/>
            </a:avLst>
          </a:prstGeom>
          <a:solidFill>
            <a:srgbClr val="16171C"/>
          </a:solidFill>
          <a:ln/>
        </p:spPr>
      </p:sp>
      <p:sp>
        <p:nvSpPr>
          <p:cNvPr id="19" name="Text 16"/>
          <p:cNvSpPr/>
          <p:nvPr/>
        </p:nvSpPr>
        <p:spPr>
          <a:xfrm>
            <a:off x="1280160" y="5074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-50" kern="0" dirty="0">
                <a:solidFill>
                  <a:srgbClr val="F5F1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</a:t>
            </a:r>
            <a:endParaRPr lang="en-US" sz="2500" dirty="0"/>
          </a:p>
        </p:txBody>
      </p:sp>
      <p:sp>
        <p:nvSpPr>
          <p:cNvPr id="20" name="Text 17"/>
          <p:cNvSpPr/>
          <p:nvPr/>
        </p:nvSpPr>
        <p:spPr>
          <a:xfrm>
            <a:off x="8625535" y="507492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Reversed — paper on ink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· LOGOS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4663440" cy="4114800"/>
          </a:xfrm>
          <a:prstGeom prst="roundRect">
            <a:avLst>
              <a:gd name="adj" fmla="val 3111"/>
            </a:avLst>
          </a:prstGeom>
          <a:solidFill>
            <a:srgbClr val="FAFAFC"/>
          </a:solidFill>
          <a:ln/>
        </p:spPr>
      </p:sp>
      <p:pic>
        <p:nvPicPr>
          <p:cNvPr id="5" name="Image 0" descr="/private/tmp/claude-501/-Users-winnin-Desktop-FIKIRTIVE--claude-worktrees-orchestration-dashboard-design-e914f4/43c820ca-6072-40d4-9469-97e85bbeded7/scratchpad/deck-assets/otto-idl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20240" y="2752344"/>
            <a:ext cx="2468880" cy="22677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192024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Color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653528" y="19202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Cloud #EC5828, eyes #2B1308. Unchanged on every background.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035040" y="248716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Role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53528" y="24871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Marks Otto’s own activity. Never decorative.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035040" y="2871216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Clear space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53528" y="287121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quarter of the cloud’s height. Never locked up with the F mark; the two marks never form one unit.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035040" y="35844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Minimum size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653528" y="35844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20 px / 5 mm. Below that, a coral dot.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035040" y="396849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 not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53528" y="39684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Recolor, add a mouth, or place on human-action controls.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01 · LOGOS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Expressions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5361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Idle is the default. Every other expression marks a live product state.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6" name="Image 0" descr="/private/tmp/claude-501/-Users-winnin-Desktop-FIKIRTIVE--claude-worktrees-orchestration-dashboard-design-e914f4/43c820ca-6072-40d4-9469-97e85bbeded7/scratchpad/deck-assets/otto-idl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06258" y="2258568"/>
            <a:ext cx="960120" cy="8778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27832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Idle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14400" y="3465576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Default state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3495980" y="1965960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10" name="Image 1" descr="/private/tmp/claude-501/-Users-winnin-Desktop-FIKIRTIVE--claude-worktrees-orchestration-dashboard-design-e914f4/43c820ca-6072-40d4-9469-97e85bbeded7/scratchpad/deck-assets/otto-thinking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79278" y="2258568"/>
            <a:ext cx="960120" cy="8778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95980" y="3227832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Thinking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3587420" y="3465576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Planning, before a proposal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6169000" y="1965960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14" name="Image 2" descr="/private/tmp/claude-501/-Users-winnin-Desktop-FIKIRTIVE--claude-worktrees-orchestration-dashboard-design-e914f4/43c820ca-6072-40d4-9469-97e85bbeded7/scratchpad/deck-assets/otto-helpful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52298" y="2258568"/>
            <a:ext cx="960120" cy="87782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169000" y="3227832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Helpful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6260440" y="3465576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Greetings and tips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8842019" y="1965960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18" name="Image 3" descr="/private/tmp/claude-501/-Users-winnin-Desktop-FIKIRTIVE--claude-worktrees-orchestration-dashboard-design-e914f4/43c820ca-6072-40d4-9469-97e85bbeded7/scratchpad/deck-assets/otto-success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25317" y="2258568"/>
            <a:ext cx="960120" cy="8778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42019" y="3227832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Success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8933459" y="3465576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Work delivered</a:t>
            </a:r>
            <a:endParaRPr lang="en-US" sz="800" dirty="0"/>
          </a:p>
        </p:txBody>
      </p:sp>
      <p:sp>
        <p:nvSpPr>
          <p:cNvPr id="21" name="Shape 15"/>
          <p:cNvSpPr/>
          <p:nvPr/>
        </p:nvSpPr>
        <p:spPr>
          <a:xfrm>
            <a:off x="822960" y="4165092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22" name="Image 4" descr="/private/tmp/claude-501/-Users-winnin-Desktop-FIKIRTIVE--claude-worktrees-orchestration-dashboard-design-e914f4/43c820ca-6072-40d4-9469-97e85bbeded7/scratchpad/deck-assets/otto-waiting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606258" y="4457700"/>
            <a:ext cx="960120" cy="87782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22960" y="5426964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Waiting</a:t>
            </a:r>
            <a:endParaRPr lang="en-US" sz="950" dirty="0"/>
          </a:p>
        </p:txBody>
      </p:sp>
      <p:sp>
        <p:nvSpPr>
          <p:cNvPr id="24" name="Text 17"/>
          <p:cNvSpPr/>
          <p:nvPr/>
        </p:nvSpPr>
        <p:spPr>
          <a:xfrm>
            <a:off x="914400" y="5664708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Awaiting the merchant’s approval</a:t>
            </a:r>
            <a:endParaRPr lang="en-US" sz="800" dirty="0"/>
          </a:p>
        </p:txBody>
      </p:sp>
      <p:sp>
        <p:nvSpPr>
          <p:cNvPr id="25" name="Shape 18"/>
          <p:cNvSpPr/>
          <p:nvPr/>
        </p:nvSpPr>
        <p:spPr>
          <a:xfrm>
            <a:off x="3495980" y="4165092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26" name="Image 5" descr="/private/tmp/claude-501/-Users-winnin-Desktop-FIKIRTIVE--claude-worktrees-orchestration-dashboard-design-e914f4/43c820ca-6072-40d4-9469-97e85bbeded7/scratchpad/deck-assets/otto-warning.sv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279278" y="4457700"/>
            <a:ext cx="960120" cy="87782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3495980" y="5426964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Warning</a:t>
            </a:r>
            <a:endParaRPr lang="en-US" sz="950" dirty="0"/>
          </a:p>
        </p:txBody>
      </p:sp>
      <p:sp>
        <p:nvSpPr>
          <p:cNvPr id="28" name="Text 20"/>
          <p:cNvSpPr/>
          <p:nvPr/>
        </p:nvSpPr>
        <p:spPr>
          <a:xfrm>
            <a:off x="3587420" y="5664708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Attention needed before spending</a:t>
            </a:r>
            <a:endParaRPr lang="en-US" sz="800" dirty="0"/>
          </a:p>
        </p:txBody>
      </p:sp>
      <p:sp>
        <p:nvSpPr>
          <p:cNvPr id="29" name="Shape 21"/>
          <p:cNvSpPr/>
          <p:nvPr/>
        </p:nvSpPr>
        <p:spPr>
          <a:xfrm>
            <a:off x="6169000" y="4165092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30" name="Image 6" descr="/private/tmp/claude-501/-Users-winnin-Desktop-FIKIRTIVE--claude-worktrees-orchestration-dashboard-design-e914f4/43c820ca-6072-40d4-9469-97e85bbeded7/scratchpad/deck-assets/otto-error.sv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952298" y="4457700"/>
            <a:ext cx="960120" cy="877824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6169000" y="5426964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Error</a:t>
            </a:r>
            <a:endParaRPr lang="en-US" sz="950" dirty="0"/>
          </a:p>
        </p:txBody>
      </p:sp>
      <p:sp>
        <p:nvSpPr>
          <p:cNvPr id="32" name="Text 23"/>
          <p:cNvSpPr/>
          <p:nvPr/>
        </p:nvSpPr>
        <p:spPr>
          <a:xfrm>
            <a:off x="6260440" y="5664708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Something failed</a:t>
            </a:r>
            <a:endParaRPr lang="en-US" sz="800" dirty="0"/>
          </a:p>
        </p:txBody>
      </p:sp>
      <p:sp>
        <p:nvSpPr>
          <p:cNvPr id="33" name="Shape 24"/>
          <p:cNvSpPr/>
          <p:nvPr/>
        </p:nvSpPr>
        <p:spPr>
          <a:xfrm>
            <a:off x="8842019" y="4165092"/>
            <a:ext cx="2526716" cy="2052828"/>
          </a:xfrm>
          <a:prstGeom prst="roundRect">
            <a:avLst>
              <a:gd name="adj" fmla="val 5345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34" name="Image 7" descr="/private/tmp/claude-501/-Users-winnin-Desktop-FIKIRTIVE--claude-worktrees-orchestration-dashboard-design-e914f4/43c820ca-6072-40d4-9469-97e85bbeded7/scratchpad/deck-assets/otto-approving.sv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625317" y="4457700"/>
            <a:ext cx="960120" cy="877824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8842019" y="5426964"/>
            <a:ext cx="25267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Approved</a:t>
            </a:r>
            <a:endParaRPr lang="en-US" sz="950" dirty="0"/>
          </a:p>
        </p:txBody>
      </p:sp>
      <p:sp>
        <p:nvSpPr>
          <p:cNvPr id="36" name="Text 26"/>
          <p:cNvSpPr/>
          <p:nvPr/>
        </p:nvSpPr>
        <p:spPr>
          <a:xfrm>
            <a:off x="8933459" y="5664708"/>
            <a:ext cx="23438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Approved and running</a:t>
            </a:r>
            <a:endParaRPr lang="en-US" sz="800" dirty="0"/>
          </a:p>
        </p:txBody>
      </p:sp>
      <p:sp>
        <p:nvSpPr>
          <p:cNvPr id="37" name="Text 27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02 · TYPOGRAPHY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Typography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6858000" cy="283464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993392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Display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057400" y="1993392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48 / 52 · 750 · -2%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520440" y="1993392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Good morning, Nicks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97280" y="2651760"/>
            <a:ext cx="6309360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688336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Title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057400" y="2688336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28 / 34 · 700 · -1.5%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20440" y="268833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Schedule for this week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97280" y="3200400"/>
            <a:ext cx="6309360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23697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Body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057400" y="323697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16 / 26 · 400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520440" y="32369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Otto drafts the plan. Nothing runs until you approve it.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97280" y="3694176"/>
            <a:ext cx="6309360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73075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Caption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057400" y="373075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 / 19 · 500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20440" y="373075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Last edited 2 hours ago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097280" y="4133088"/>
            <a:ext cx="6309360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416966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57400" y="4169664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 / 20 · Mono 400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520440" y="416966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F6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1,240 cr · batch 2/4 · 9:16 · RM 2,350.00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29600" y="192024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Geist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573768" y="19202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All interface and marketing text. Variable weight, 400–800.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0" y="248716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JetBrains Mono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573768" y="248716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Numbers and data.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3054096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Hierarchy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573768" y="30540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By weight and size, never by changing face.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0" y="3621024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Figures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573768" y="36210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Tabular figures in any column of numbers.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229600" y="4187952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License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573768" y="418795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Both faces are open source under the SIL Open Font License (Vercel; JetBrains).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22960" y="62636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Sizes in px at web scale, with line height (size / line). Product surfaces derive their tokens from this scale.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 · COLOR PALETTE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Color palette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51790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Composition target: 90% neutrals, 8% gradient accents, 2% coral. Semantic colors sit outside the ratio — they signal state only.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22960" y="195681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FOUNDATION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249424"/>
            <a:ext cx="1375911" cy="475488"/>
          </a:xfrm>
          <a:prstGeom prst="rect">
            <a:avLst/>
          </a:prstGeom>
          <a:solidFill>
            <a:srgbClr val="FAFAFC"/>
          </a:solidFill>
          <a:ln w="9525">
            <a:solidFill>
              <a:srgbClr val="E8E9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5256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Ground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05256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#FAFAFC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345175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63463" y="2249424"/>
            <a:ext cx="1375911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8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7471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Surface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427471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#FFFFFF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867389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5677" y="2249424"/>
            <a:ext cx="1375911" cy="475488"/>
          </a:xfrm>
          <a:prstGeom prst="rect">
            <a:avLst/>
          </a:prstGeom>
          <a:solidFill>
            <a:srgbClr val="F2F3F7"/>
          </a:solidFill>
          <a:ln w="9525">
            <a:solidFill>
              <a:srgbClr val="E8E9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49685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Chrome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949685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#F2F3F7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5389604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07892" y="2249424"/>
            <a:ext cx="1375911" cy="475488"/>
          </a:xfrm>
          <a:prstGeom prst="rect">
            <a:avLst/>
          </a:prstGeom>
          <a:solidFill>
            <a:srgbClr val="E8E9EF"/>
          </a:solidFill>
          <a:ln w="9525">
            <a:solidFill>
              <a:srgbClr val="E8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71900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Line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471900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#E8E9EF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911819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0107" y="2249424"/>
            <a:ext cx="1375911" cy="475488"/>
          </a:xfrm>
          <a:prstGeom prst="rect">
            <a:avLst/>
          </a:prstGeom>
          <a:solidFill>
            <a:srgbClr val="16171C"/>
          </a:solidFill>
          <a:ln/>
        </p:spPr>
      </p:sp>
      <p:sp>
        <p:nvSpPr>
          <p:cNvPr id="24" name="Text 22"/>
          <p:cNvSpPr/>
          <p:nvPr/>
        </p:nvSpPr>
        <p:spPr>
          <a:xfrm>
            <a:off x="6994115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Ink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994115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#16171C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8434034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52322" y="2249424"/>
            <a:ext cx="1375911" cy="475488"/>
          </a:xfrm>
          <a:prstGeom prst="rect">
            <a:avLst/>
          </a:prstGeom>
          <a:solidFill>
            <a:srgbClr val="5B5F6C"/>
          </a:solidFill>
          <a:ln/>
        </p:spPr>
      </p:sp>
      <p:sp>
        <p:nvSpPr>
          <p:cNvPr id="28" name="Text 26"/>
          <p:cNvSpPr/>
          <p:nvPr/>
        </p:nvSpPr>
        <p:spPr>
          <a:xfrm>
            <a:off x="8516330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Ink 2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516330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#5B5F6C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9956248" y="2231136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74536" y="2249424"/>
            <a:ext cx="1375911" cy="475488"/>
          </a:xfrm>
          <a:prstGeom prst="rect">
            <a:avLst/>
          </a:prstGeom>
          <a:solidFill>
            <a:srgbClr val="9CA0AC"/>
          </a:solidFill>
          <a:ln/>
        </p:spPr>
      </p:sp>
      <p:sp>
        <p:nvSpPr>
          <p:cNvPr id="32" name="Text 30"/>
          <p:cNvSpPr/>
          <p:nvPr/>
        </p:nvSpPr>
        <p:spPr>
          <a:xfrm>
            <a:off x="10038544" y="2761488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Ink 3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038544" y="2962656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#9CA0AC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22960" y="334670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BRAND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22960" y="3621024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41248" y="3639312"/>
            <a:ext cx="1375911" cy="475488"/>
          </a:xfrm>
          <a:prstGeom prst="rect">
            <a:avLst/>
          </a:prstGeom>
          <a:solidFill>
            <a:srgbClr val="EC5828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" y="4151376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Coral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905256" y="4352544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#EC5828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2345175" y="3621024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63463" y="3639312"/>
            <a:ext cx="1375911" cy="475488"/>
          </a:xfrm>
          <a:prstGeom prst="rect">
            <a:avLst/>
          </a:prstGeom>
          <a:solidFill>
            <a:srgbClr val="FBE7DC"/>
          </a:solidFill>
          <a:ln w="9525">
            <a:solidFill>
              <a:srgbClr val="E8E9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27471" y="4151376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Coral soft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2427471" y="4352544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#FBE7DC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3867389" y="3621024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85677" y="3639312"/>
            <a:ext cx="1375911" cy="475488"/>
          </a:xfrm>
          <a:prstGeom prst="rect">
            <a:avLst/>
          </a:prstGeom>
          <a:solidFill>
            <a:srgbClr val="F5F1E8"/>
          </a:solidFill>
          <a:ln w="9525">
            <a:solidFill>
              <a:srgbClr val="E8E9E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9685" y="4151376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Paper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949685" y="4352544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#F5F1E8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5389604" y="3621024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07892" y="3639312"/>
            <a:ext cx="1375911" cy="475488"/>
          </a:xfrm>
          <a:prstGeom prst="rect">
            <a:avLst/>
          </a:prstGeom>
          <a:solidFill>
            <a:srgbClr val="2B1308"/>
          </a:solidFill>
          <a:ln/>
        </p:spPr>
      </p:sp>
      <p:sp>
        <p:nvSpPr>
          <p:cNvPr id="49" name="Text 47"/>
          <p:cNvSpPr/>
          <p:nvPr/>
        </p:nvSpPr>
        <p:spPr>
          <a:xfrm>
            <a:off x="5471900" y="4151376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Otto eye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471900" y="4352544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#2B1308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822960" y="4736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SEMANTIC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22960" y="5010912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41248" y="5029200"/>
            <a:ext cx="1375911" cy="47548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4" name="Text 52"/>
          <p:cNvSpPr/>
          <p:nvPr/>
        </p:nvSpPr>
        <p:spPr>
          <a:xfrm>
            <a:off x="905256" y="5541264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Success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905256" y="5742432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#16A34A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2345175" y="5010912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63463" y="5029200"/>
            <a:ext cx="1375911" cy="47548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8" name="Text 56"/>
          <p:cNvSpPr/>
          <p:nvPr/>
        </p:nvSpPr>
        <p:spPr>
          <a:xfrm>
            <a:off x="2427471" y="5541264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Warning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2427471" y="5742432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#D97706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3867389" y="5010912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885677" y="5029200"/>
            <a:ext cx="1375911" cy="475488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62" name="Text 60"/>
          <p:cNvSpPr/>
          <p:nvPr/>
        </p:nvSpPr>
        <p:spPr>
          <a:xfrm>
            <a:off x="3949685" y="5541264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Error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3949685" y="5742432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#E5484D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5389604" y="5010912"/>
            <a:ext cx="1412487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07892" y="5029200"/>
            <a:ext cx="1375911" cy="475488"/>
          </a:xfrm>
          <a:prstGeom prst="rect">
            <a:avLst/>
          </a:prstGeom>
          <a:solidFill>
            <a:srgbClr val="3B6FE6"/>
          </a:solidFill>
          <a:ln/>
        </p:spPr>
      </p:sp>
      <p:sp>
        <p:nvSpPr>
          <p:cNvPr id="66" name="Text 64"/>
          <p:cNvSpPr/>
          <p:nvPr/>
        </p:nvSpPr>
        <p:spPr>
          <a:xfrm>
            <a:off x="5471900" y="5541264"/>
            <a:ext cx="12478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Info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5471900" y="5742432"/>
            <a:ext cx="1247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CA0A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#3B6FE6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822960" y="605332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Pairings. </a:t>
            </a:r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Text on neutrals: Ink for primary, Ink 2 for secondary, Ink 3 for captions. Text on semantic fills: white, for bold labels and badges. Ink as a full-bleed ground: covers and closing surfaces only. Digital-first palette: hex is the source of truth; print matching is defined when print work is commissioned.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03 · COLOR PALETTE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Gradients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51790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Linear, 135°, two stops.</a:t>
            </a:r>
            <a:endParaRPr lang="en-US" sz="1050" dirty="0"/>
          </a:p>
        </p:txBody>
      </p:sp>
      <p:pic>
        <p:nvPicPr>
          <p:cNvPr id="5" name="Image 0" descr="/private/tmp/claude-501/-Users-winnin-Desktop-FIKIRTIVE--claude-worktrees-orchestration-dashboard-design-e914f4/43c820ca-6072-40d4-9469-97e85bbeded7/scratchpad/deck-assets/grad-vio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20240"/>
            <a:ext cx="3381146" cy="2377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2121408"/>
            <a:ext cx="28690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366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Violet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78992" y="2432304"/>
            <a:ext cx="28690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B366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#EDE9FE – #DBEAFE · text #3B3663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078992" y="384048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366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Start tiles, template cards</a:t>
            </a:r>
            <a:endParaRPr lang="en-US" sz="900" dirty="0"/>
          </a:p>
        </p:txBody>
      </p:sp>
      <p:pic>
        <p:nvPicPr>
          <p:cNvPr id="9" name="Image 1" descr="/private/tmp/claude-501/-Users-winnin-Desktop-FIKIRTIVE--claude-worktrees-orchestration-dashboard-design-e914f4/43c820ca-6072-40d4-9469-97e85bbeded7/scratchpad/deck-assets/grad-p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274" y="1920240"/>
            <a:ext cx="3381146" cy="23774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1306" y="2121408"/>
            <a:ext cx="28690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D2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Peach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661306" y="2432304"/>
            <a:ext cx="28690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C3D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#FFEDD5 – #FFE1E1 · text #7C3D2A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4661306" y="384048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3D2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Campaign tiles, empty states</a:t>
            </a:r>
            <a:endParaRPr lang="en-US" sz="900" dirty="0"/>
          </a:p>
        </p:txBody>
      </p:sp>
      <p:pic>
        <p:nvPicPr>
          <p:cNvPr id="13" name="Image 2" descr="/private/tmp/claude-501/-Users-winnin-Desktop-FIKIRTIVE--claude-worktrees-orchestration-dashboard-design-e914f4/43c820ca-6072-40d4-9469-97e85bbeded7/scratchpad/deck-assets/grad-sk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589" y="1920240"/>
            <a:ext cx="3381146" cy="23774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43621" y="2121408"/>
            <a:ext cx="28690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A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Sky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243621" y="2432304"/>
            <a:ext cx="28690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E4A6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#E0F2FE – #BAE6FD · text #2E4A66</a:t>
            </a:r>
            <a:endParaRPr lang="en-US" sz="750" dirty="0"/>
          </a:p>
        </p:txBody>
      </p:sp>
      <p:sp>
        <p:nvSpPr>
          <p:cNvPr id="16" name="Text 11"/>
          <p:cNvSpPr/>
          <p:nvPr/>
        </p:nvSpPr>
        <p:spPr>
          <a:xfrm>
            <a:off x="8243621" y="384048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4A6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Data cards, onboarding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822960" y="489204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Text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2441448" y="489204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matching deep tone shown on each tile, at 4.5:1 contrast or better.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822960" y="527608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Never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2441448" y="5276088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 buttons, body-text backgrounds, chart data, photography, or full pages. At most two tiles per screen, never two adjacent from the same family.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822960" y="584301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Coral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2441448" y="5843016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 product UI, coral marks Otto. Human-action buttons are ink #16171C.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04 · IMAGERY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Imagery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Photography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304288" y="182880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stock photography. Use product screenshots, gradient tiles, or the Otto cloud.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395728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Merchant work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04288" y="23957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Generated images and videos sit on a white card with a hairline border and soft shadow. No filters, brand-color overlays, or watermarks.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14553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Illustration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304288" y="314553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Otto is the only illustrated character.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529584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Icons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04288" y="352958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Thin-line geometric icons with a uniform stroke, colored to match the text. Icons never use coral.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Texture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04288" y="409651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16 px dot grid marks the canvas workspace only.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4805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Gradients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04288" y="4480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Accent tiles on content only; rules in 03 · Color palette.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200390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  <a:effectLst>
            <a:outerShdw sx="100000" sy="100000" kx="0" ky="0" algn="bl" rotWithShape="0" blurRad="101600" dist="25400" dir="5400000">
              <a:srgbClr val="16171C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87768" y="1892808"/>
            <a:ext cx="1784452" cy="1197864"/>
          </a:xfrm>
          <a:prstGeom prst="roundRect">
            <a:avLst>
              <a:gd name="adj" fmla="val 3817"/>
            </a:avLst>
          </a:prstGeom>
          <a:solidFill>
            <a:srgbClr val="F5F1E8"/>
          </a:solidFill>
          <a:ln/>
        </p:spPr>
      </p:sp>
      <p:pic>
        <p:nvPicPr>
          <p:cNvPr id="18" name="Image 0" descr="/private/tmp/claude-501/-Users-winnin-Desktop-FIKIRTIVE--claude-worktrees-orchestration-dashboard-design-e914f4/43c820ca-6072-40d4-9469-97e85bbeded7/scratchpad/deck-assets/otto-idl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7658" y="2125980"/>
            <a:ext cx="804672" cy="7315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086600" y="3246120"/>
            <a:ext cx="21867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Merchant work — card, hairline, shadow</a:t>
            </a:r>
            <a:endParaRPr lang="en-US" sz="800" dirty="0"/>
          </a:p>
        </p:txBody>
      </p:sp>
      <p:pic>
        <p:nvPicPr>
          <p:cNvPr id="20" name="Image 1" descr="/private/tmp/claude-501/-Users-winnin-Desktop-FIKIRTIVE--claude-worktrees-orchestration-dashboard-design-e914f4/43c820ca-6072-40d4-9469-97e85bbeded7/scratchpad/deck-assets/dotgr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4828" y="1783080"/>
            <a:ext cx="2003908" cy="1417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9273388" y="3246120"/>
            <a:ext cx="21867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Canvas dot grid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7178040" y="3584448"/>
            <a:ext cx="200390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8E9EF"/>
            </a:solidFill>
            <a:prstDash val="solid"/>
          </a:ln>
        </p:spPr>
      </p:sp>
      <p:pic>
        <p:nvPicPr>
          <p:cNvPr id="23" name="Image 2" descr="/private/tmp/claude-501/-Users-winnin-Desktop-FIKIRTIVE--claude-worktrees-orchestration-dashboard-design-e914f4/43c820ca-6072-40d4-9469-97e85bbeded7/scratchpad/deck-assets/ic-cal.sv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53630" y="4169664"/>
            <a:ext cx="246888" cy="246888"/>
          </a:xfrm>
          <a:prstGeom prst="rect">
            <a:avLst/>
          </a:prstGeom>
        </p:spPr>
      </p:pic>
      <p:pic>
        <p:nvPicPr>
          <p:cNvPr id="24" name="Image 3" descr="/private/tmp/claude-501/-Users-winnin-Desktop-FIKIRTIVE--claude-worktrees-orchestration-dashboard-design-e914f4/43c820ca-6072-40d4-9469-97e85bbeded7/scratchpad/deck-assets/ic-img.sv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10830" y="4169664"/>
            <a:ext cx="246888" cy="246888"/>
          </a:xfrm>
          <a:prstGeom prst="rect">
            <a:avLst/>
          </a:prstGeom>
        </p:spPr>
      </p:pic>
      <p:pic>
        <p:nvPicPr>
          <p:cNvPr id="25" name="Image 4" descr="/private/tmp/claude-501/-Users-winnin-Desktop-FIKIRTIVE--claude-worktrees-orchestration-dashboard-design-e914f4/43c820ca-6072-40d4-9469-97e85bbeded7/scratchpad/deck-assets/ic-chart.sv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68030" y="4169664"/>
            <a:ext cx="246888" cy="24688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086600" y="5047488"/>
            <a:ext cx="21867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Icon style — thin line, uniform stroke</a:t>
            </a:r>
            <a:endParaRPr lang="en-US" sz="800" dirty="0"/>
          </a:p>
        </p:txBody>
      </p:sp>
      <p:pic>
        <p:nvPicPr>
          <p:cNvPr id="27" name="Image 5" descr="/private/tmp/claude-501/-Users-winnin-Desktop-FIKIRTIVE--claude-worktrees-orchestration-dashboard-design-e914f4/43c820ca-6072-40d4-9469-97e85bbeded7/scratchpad/deck-assets/grad-sk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64828" y="3584448"/>
            <a:ext cx="2003908" cy="1417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273388" y="5047488"/>
            <a:ext cx="21867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Gradient accent tile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05 · AUDIENCE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Audience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Small-business owners.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2487168"/>
            <a:ext cx="6309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They run the store and the marketing alone: no team, and no time to learn prompting. They need plans they can read, costs shown before anything runs, and a record of everything that happened.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Global by default. Southeast Asia is the first market; copy never assumes it. Anything involving money is specific: amounts, counts, dates.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test for every line of copy: readable in one pass.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06 · VOICE AND TONE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Voice and tone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5179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Two voices. The product is neutral and precise. Otto speaks plainly, in the first person. Both are honest about cost and status: serious about spending, calm about failure.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" y="2212848"/>
            <a:ext cx="10545775" cy="329184"/>
          </a:xfrm>
          <a:prstGeom prst="roundRect">
            <a:avLst>
              <a:gd name="adj" fmla="val 16667"/>
            </a:avLst>
          </a:prstGeom>
          <a:solidFill>
            <a:srgbClr val="F2F3F7"/>
          </a:solidFill>
          <a:ln/>
        </p:spPr>
      </p:sp>
      <p:sp>
        <p:nvSpPr>
          <p:cNvPr id="6" name="Text 4"/>
          <p:cNvSpPr/>
          <p:nvPr/>
        </p:nvSpPr>
        <p:spPr>
          <a:xfrm>
            <a:off x="969264" y="22494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CONTEXT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743200" y="224942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543800" y="22494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969264" y="272491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Empty state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43200" y="272491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Nothing here yet — start your first canvas.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543800" y="272491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trike="sngStrike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Your creative journey awaits! ✨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273552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33832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Before spending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0" y="33832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 images · 12 cr. Generate?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543800" y="33832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Charging first; pricing hidden in a tooltip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931920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40416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Errors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743200" y="404164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This didn’t go through. Your credits are untouched — try again.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543800" y="40416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trike="sngStrike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Oops! Something went wrong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4590288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700016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Unshipped features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743200" y="470001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Publishing isn’t switched on yet, so this stays a draft.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543800" y="470001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trike="sngStrike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Coming soon!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2960" y="5248656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9264" y="535838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Otto working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743200" y="535838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I’m making 4 images for “Raya promo” — 2 are done.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543800" y="535838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spinner with no words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22960" y="5907024"/>
            <a:ext cx="10545775" cy="0"/>
          </a:xfrm>
          <a:prstGeom prst="line">
            <a:avLst/>
          </a:prstGeom>
          <a:noFill/>
          <a:ln w="9525">
            <a:solidFill>
              <a:srgbClr val="E8E9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07 · GRAMMAR AND STYLE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Grammar and style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Spelling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2761488" y="1828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American English: color, favorite, organize.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Casing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761488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Sentence case everywhere — titles, buttons, navigation. All caps only for small labels, with letter-spacing.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Oxford comma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761488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Always: posts, images, and videos.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Currency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RM 2,350.00 — currency prefix, thousands separator, two decimals. Credits as 1,240 cr.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657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761488" y="3657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12 Aug 2026. Month and year: Aug 2026. Short contexts: Fri, 12 Aug.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Numbers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761488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Numerals in UI copy: 4 images, 2 done.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4572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Product terms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761488" y="4572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 in text. fikirtive as the wordmark. Otto always capitalized; credits and canvas always lowercase.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5029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Never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61488" y="5029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 customer-facing copy: “Coming soon,” AI vendor or model names, numbers without a source.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60" kern="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08 · TAGLINE AND BOILERPLATE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Tagline and boilerplate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95528" y="1783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marketing OS</a:t>
            </a:r>
            <a:pPr indent="0" marL="0">
              <a:buNone/>
            </a:pPr>
            <a:r>
              <a:rPr lang="en-US" sz="4000" b="1" spc="-100" kern="0" dirty="0">
                <a:solidFill>
                  <a:srgbClr val="EC582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Setting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441448" y="301752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Geist, weight 750, -2.8% tracking, always with the period.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period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41448" y="33832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May be coral #EC5828; never any other color.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Placement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41448" y="374904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May sit under the wordmark on covers. Never a headline substitute in running copy.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71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Boilerplate — use verbatim: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4956048"/>
            <a:ext cx="10545775" cy="1371600"/>
          </a:xfrm>
          <a:prstGeom prst="roundRect">
            <a:avLst>
              <a:gd name="adj" fmla="val 6667"/>
            </a:avLst>
          </a:prstGeom>
          <a:solidFill>
            <a:srgbClr val="FAFAFC"/>
          </a:solidFill>
          <a:ln w="12700">
            <a:solidFill>
              <a:srgbClr val="E8E9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5102352"/>
            <a:ext cx="1007028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B5F6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 is the all-in-one marketing OS for small businesses. It gives merchants complete, hands-on marketing tools — creation, campaigns, scheduling, and publishing — plus Otto, an AI marketing operator that researches, plans, and executes with the merchant’s approval. Every action is transparent: merchants see what things cost before they run, and everything leaves a trail they can read. Fikirtive is operated by BELCORT SDN BHD.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865815" y="63825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CA0AC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innin-Desktop-FIKIRTIVE--claude-worktrees-orchestration-dashboard-design-e914f4/43c820ca-6072-40d4-9469-97e85bbeded7/scratchpad/deck-assets/appicon-cora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2928" y="196596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2004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spc="-50" kern="0" dirty="0">
                <a:solidFill>
                  <a:srgbClr val="F5F1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fikirtive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0" y="3767328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1E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marketing OS</a:t>
            </a:r>
            <a:pPr algn="ctr" indent="0" marL="0">
              <a:buNone/>
            </a:pPr>
            <a:r>
              <a:rPr lang="en-US" sz="1350" b="1" dirty="0">
                <a:solidFill>
                  <a:srgbClr val="EC5828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0" y="45262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28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Brand guidelines · Version 4 · Aug 2026 · nicksgan@belcort.com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Fikirtive brand guidelines</dc:title>
  <dc:subject>PptxGenJS Presentation</dc:subject>
  <dc:creator>Fikirtive</dc:creator>
  <cp:lastModifiedBy>Fikirtive</cp:lastModifiedBy>
  <cp:revision>1</cp:revision>
  <dcterms:created xsi:type="dcterms:W3CDTF">2026-08-20T07:18:55Z</dcterms:created>
  <dcterms:modified xsi:type="dcterms:W3CDTF">2026-08-20T07:18:55Z</dcterms:modified>
</cp:coreProperties>
</file>